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sldIdLst>
    <p:sldId id="256" r:id="rId2"/>
    <p:sldId id="257" r:id="rId3"/>
    <p:sldId id="258" r:id="rId4"/>
    <p:sldId id="269" r:id="rId5"/>
    <p:sldId id="282" r:id="rId6"/>
    <p:sldId id="272" r:id="rId7"/>
    <p:sldId id="283" r:id="rId8"/>
    <p:sldId id="284" r:id="rId9"/>
    <p:sldId id="285" r:id="rId10"/>
    <p:sldId id="286" r:id="rId11"/>
    <p:sldId id="287" r:id="rId12"/>
    <p:sldId id="289" r:id="rId13"/>
    <p:sldId id="288" r:id="rId14"/>
    <p:sldId id="266" r:id="rId15"/>
    <p:sldId id="28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027" autoAdjust="0"/>
  </p:normalViewPr>
  <p:slideViewPr>
    <p:cSldViewPr snapToGrid="0">
      <p:cViewPr varScale="1">
        <p:scale>
          <a:sx n="103" d="100"/>
          <a:sy n="103" d="100"/>
        </p:scale>
        <p:origin x="267" y="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534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802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172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8401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6891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1806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17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6940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5121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1024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02975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330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81041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2607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5830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8191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7/28/2026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774709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aveetha Institute of Medical and Technical Sciences ...">
            <a:extLst>
              <a:ext uri="{FF2B5EF4-FFF2-40B4-BE49-F238E27FC236}">
                <a16:creationId xmlns:a16="http://schemas.microsoft.com/office/drawing/2014/main" id="{966AE1C7-1F4D-D19C-F84A-F654E48B4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956" y="374206"/>
            <a:ext cx="9848088" cy="10322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9E5C913-DFAA-A8DB-754E-54001D4E57DC}"/>
              </a:ext>
            </a:extLst>
          </p:cNvPr>
          <p:cNvSpPr txBox="1"/>
          <p:nvPr/>
        </p:nvSpPr>
        <p:spPr>
          <a:xfrm>
            <a:off x="1277874" y="2324791"/>
            <a:ext cx="10203180" cy="584775"/>
          </a:xfrm>
          <a:prstGeom prst="rect">
            <a:avLst/>
          </a:prstGeom>
          <a:noFill/>
        </p:spPr>
        <p:txBody>
          <a:bodyPr wrap="square" rtlCol="0">
            <a:spAutoFit/>
          </a:bodyPr>
          <a:lstStyle/>
          <a:p>
            <a:pPr algn="ctr"/>
            <a:r>
              <a:rPr lang="en-US" sz="3200" b="1" dirty="0" smtClean="0">
                <a:solidFill>
                  <a:schemeClr val="accent1"/>
                </a:solidFill>
                <a:latin typeface="Times New Roman" panose="02020603050405020304" pitchFamily="18" charset="0"/>
                <a:cs typeface="Times New Roman" panose="02020603050405020304" pitchFamily="18" charset="0"/>
              </a:rPr>
              <a:t>ASSESSMENT TOOL 3</a:t>
            </a:r>
            <a:endParaRPr lang="en-US" sz="3200" b="1"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A1EF9EE-46E5-E9E0-12C2-7CB044C698FF}"/>
              </a:ext>
            </a:extLst>
          </p:cNvPr>
          <p:cNvSpPr txBox="1"/>
          <p:nvPr/>
        </p:nvSpPr>
        <p:spPr>
          <a:xfrm>
            <a:off x="1171956" y="3463564"/>
            <a:ext cx="10415016" cy="1815882"/>
          </a:xfrm>
          <a:prstGeom prst="rect">
            <a:avLst/>
          </a:prstGeom>
          <a:noFill/>
        </p:spPr>
        <p:txBody>
          <a:bodyPr wrap="square" rtlCol="0">
            <a:spAutoFit/>
          </a:bodyPr>
          <a:lstStyle/>
          <a:p>
            <a:pPr algn="ctr"/>
            <a:r>
              <a:rPr lang="en-US" sz="2400" b="1" dirty="0" smtClean="0">
                <a:latin typeface="Times New Roman" panose="02020603050405020304" pitchFamily="18" charset="0"/>
                <a:cs typeface="Times New Roman" panose="02020603050405020304" pitchFamily="18" charset="0"/>
              </a:rPr>
              <a:t>CSA0501</a:t>
            </a:r>
            <a:r>
              <a:rPr lang="en-US" sz="2400" b="1" dirty="0">
                <a:latin typeface="Times New Roman" panose="02020603050405020304" pitchFamily="18" charset="0"/>
                <a:cs typeface="Times New Roman" panose="02020603050405020304" pitchFamily="18" charset="0"/>
              </a:rPr>
              <a:t> </a:t>
            </a:r>
          </a:p>
          <a:p>
            <a:pPr algn="ctr"/>
            <a:r>
              <a:rPr lang="en-US" sz="2400" b="1" dirty="0" smtClean="0">
                <a:latin typeface="Times New Roman" panose="02020603050405020304" pitchFamily="18" charset="0"/>
                <a:cs typeface="Times New Roman" panose="02020603050405020304" pitchFamily="18" charset="0"/>
              </a:rPr>
              <a:t>DATABASE MANAGEMENT SYSTEM</a:t>
            </a:r>
            <a:endParaRPr lang="en-US" sz="24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EFFA358-D31F-227E-CF75-756116DFC8F4}"/>
              </a:ext>
            </a:extLst>
          </p:cNvPr>
          <p:cNvSpPr txBox="1"/>
          <p:nvPr/>
        </p:nvSpPr>
        <p:spPr>
          <a:xfrm>
            <a:off x="7306635" y="4966677"/>
            <a:ext cx="5157216"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Presented By:</a:t>
            </a:r>
          </a:p>
          <a:p>
            <a:r>
              <a:rPr lang="en-IN" sz="2000" dirty="0" err="1" smtClean="0">
                <a:latin typeface="Times New Roman" panose="02020603050405020304" pitchFamily="18" charset="0"/>
                <a:cs typeface="Times New Roman" panose="02020603050405020304" pitchFamily="18" charset="0"/>
              </a:rPr>
              <a:t>Mukesh</a:t>
            </a:r>
            <a:r>
              <a:rPr lang="en-IN" sz="2000" dirty="0" smtClean="0">
                <a:latin typeface="Times New Roman" panose="02020603050405020304" pitchFamily="18" charset="0"/>
                <a:cs typeface="Times New Roman" panose="02020603050405020304" pitchFamily="18" charset="0"/>
              </a:rPr>
              <a:t> Raj L </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192571036</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D7516A-2DD3-0814-D5E8-43052DBF74A0}"/>
              </a:ext>
            </a:extLst>
          </p:cNvPr>
          <p:cNvSpPr txBox="1"/>
          <p:nvPr/>
        </p:nvSpPr>
        <p:spPr>
          <a:xfrm>
            <a:off x="1979039" y="4966677"/>
            <a:ext cx="3904488"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Under guidance:</a:t>
            </a:r>
            <a:br>
              <a:rPr lang="en-IN"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Jaya Mabel Rani 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545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5FC9C-22BA-4BF4-A0C9-3462EF89CB65}"/>
              </a:ext>
            </a:extLst>
          </p:cNvPr>
          <p:cNvSpPr>
            <a:spLocks noGrp="1"/>
          </p:cNvSpPr>
          <p:nvPr>
            <p:ph type="title"/>
          </p:nvPr>
        </p:nvSpPr>
        <p:spPr>
          <a:xfrm>
            <a:off x="1354106" y="432086"/>
            <a:ext cx="9483788" cy="1280890"/>
          </a:xfrm>
        </p:spPr>
        <p:txBody>
          <a:bodyPr>
            <a:normAutofit/>
          </a:bodyPr>
          <a:lstStyle/>
          <a:p>
            <a:pPr algn="ctr"/>
            <a:r>
              <a:rPr lang="en-IN" sz="3200" b="1" dirty="0">
                <a:latin typeface="Times New Roman" panose="02020603050405020304" pitchFamily="18" charset="0"/>
                <a:cs typeface="Times New Roman" panose="02020603050405020304" pitchFamily="18" charset="0"/>
              </a:rPr>
              <a:t>INTRODUCTION </a:t>
            </a:r>
          </a:p>
        </p:txBody>
      </p:sp>
      <p:sp>
        <p:nvSpPr>
          <p:cNvPr id="5" name="Rectangle 2">
            <a:extLst>
              <a:ext uri="{FF2B5EF4-FFF2-40B4-BE49-F238E27FC236}">
                <a16:creationId xmlns:a16="http://schemas.microsoft.com/office/drawing/2014/main" id="{9F05E249-647C-6F2D-0085-DA7247387136}"/>
              </a:ext>
            </a:extLst>
          </p:cNvPr>
          <p:cNvSpPr>
            <a:spLocks noGrp="1" noChangeArrowheads="1"/>
          </p:cNvSpPr>
          <p:nvPr>
            <p:ph idx="1"/>
          </p:nvPr>
        </p:nvSpPr>
        <p:spPr bwMode="auto">
          <a:xfrm>
            <a:off x="1781025" y="1712976"/>
            <a:ext cx="5966306" cy="561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What is DBMS?</a:t>
            </a:r>
          </a:p>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Database Management System (DBMS)</a:t>
            </a:r>
            <a:r>
              <a:rPr lang="en-US" dirty="0">
                <a:latin typeface="Times New Roman" panose="02020603050405020304" pitchFamily="18" charset="0"/>
                <a:cs typeface="Times New Roman" panose="02020603050405020304" pitchFamily="18" charset="0"/>
              </a:rPr>
              <a:t> is software that stores, organizes, retrieves, and manages data efficiently. It acts as an interface between users and databases, ensuring data is secure, accurate, and easy to access.</a:t>
            </a:r>
          </a:p>
          <a:p>
            <a:r>
              <a:rPr lang="en-US" b="1" dirty="0">
                <a:latin typeface="Times New Roman" panose="02020603050405020304" pitchFamily="18" charset="0"/>
                <a:cs typeface="Times New Roman" panose="02020603050405020304" pitchFamily="18" charset="0"/>
              </a:rPr>
              <a:t>Why DBMS?</a:t>
            </a:r>
          </a:p>
          <a:p>
            <a:r>
              <a:rPr lang="en-US" dirty="0">
                <a:latin typeface="Times New Roman" panose="02020603050405020304" pitchFamily="18" charset="0"/>
                <a:cs typeface="Times New Roman" panose="02020603050405020304" pitchFamily="18" charset="0"/>
              </a:rPr>
              <a:t>Organizes large amounts of data</a:t>
            </a:r>
          </a:p>
          <a:p>
            <a:r>
              <a:rPr lang="en-US" dirty="0">
                <a:latin typeface="Times New Roman" panose="02020603050405020304" pitchFamily="18" charset="0"/>
                <a:cs typeface="Times New Roman" panose="02020603050405020304" pitchFamily="18" charset="0"/>
              </a:rPr>
              <a:t>Reduces redundancy</a:t>
            </a:r>
          </a:p>
          <a:p>
            <a:r>
              <a:rPr lang="en-US" dirty="0">
                <a:latin typeface="Times New Roman" panose="02020603050405020304" pitchFamily="18" charset="0"/>
                <a:cs typeface="Times New Roman" panose="02020603050405020304" pitchFamily="18" charset="0"/>
              </a:rPr>
              <a:t>Provides security</a:t>
            </a:r>
          </a:p>
          <a:p>
            <a:r>
              <a:rPr lang="en-US" dirty="0">
                <a:latin typeface="Times New Roman" panose="02020603050405020304" pitchFamily="18" charset="0"/>
                <a:cs typeface="Times New Roman" panose="02020603050405020304" pitchFamily="18" charset="0"/>
              </a:rPr>
              <a:t>Supports multiple users</a:t>
            </a:r>
          </a:p>
          <a:p>
            <a:r>
              <a:rPr lang="en-US" dirty="0">
                <a:latin typeface="Times New Roman" panose="02020603050405020304" pitchFamily="18" charset="0"/>
                <a:cs typeface="Times New Roman" panose="02020603050405020304" pitchFamily="18" charset="0"/>
              </a:rPr>
              <a:t>Ensures data consistency</a:t>
            </a:r>
          </a:p>
          <a:p>
            <a:pPr marL="0" indent="0">
              <a:buNone/>
            </a:pPr>
            <a:r>
              <a:rPr lang="en-US" sz="2400" dirty="0"/>
              <a:t/>
            </a:r>
            <a:br>
              <a:rPr lang="en-US" sz="2400" dirty="0"/>
            </a:b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F97D8B09-B705-0AA2-3B35-1A73904C8B6C}"/>
              </a:ext>
            </a:extLst>
          </p:cNvPr>
          <p:cNvPicPr>
            <a:picLocks noChangeAspect="1"/>
          </p:cNvPicPr>
          <p:nvPr/>
        </p:nvPicPr>
        <p:blipFill>
          <a:blip r:embed="rId2"/>
          <a:stretch>
            <a:fillRect/>
          </a:stretch>
        </p:blipFill>
        <p:spPr>
          <a:xfrm>
            <a:off x="1622170" y="212270"/>
            <a:ext cx="1219354" cy="1081314"/>
          </a:xfrm>
          <a:prstGeom prst="rect">
            <a:avLst/>
          </a:prstGeom>
        </p:spPr>
      </p:pic>
      <p:pic>
        <p:nvPicPr>
          <p:cNvPr id="16" name="Picture 15">
            <a:extLst>
              <a:ext uri="{FF2B5EF4-FFF2-40B4-BE49-F238E27FC236}">
                <a16:creationId xmlns:a16="http://schemas.microsoft.com/office/drawing/2014/main" id="{C672428C-62A9-3020-F0BC-F0A59B2C7826}"/>
              </a:ext>
            </a:extLst>
          </p:cNvPr>
          <p:cNvPicPr>
            <a:picLocks noChangeAspect="1"/>
          </p:cNvPicPr>
          <p:nvPr/>
        </p:nvPicPr>
        <p:blipFill>
          <a:blip r:embed="rId3"/>
          <a:stretch>
            <a:fillRect/>
          </a:stretch>
        </p:blipFill>
        <p:spPr>
          <a:xfrm>
            <a:off x="10271157" y="212270"/>
            <a:ext cx="917954" cy="1087660"/>
          </a:xfrm>
          <a:prstGeom prst="rect">
            <a:avLst/>
          </a:prstGeom>
        </p:spPr>
      </p:pic>
      <p:sp>
        <p:nvSpPr>
          <p:cNvPr id="7" name="TextBox 6">
            <a:extLst>
              <a:ext uri="{FF2B5EF4-FFF2-40B4-BE49-F238E27FC236}">
                <a16:creationId xmlns:a16="http://schemas.microsoft.com/office/drawing/2014/main" id="{4C0889C8-C513-9FB9-B4DD-AE2A98139C60}"/>
              </a:ext>
            </a:extLst>
          </p:cNvPr>
          <p:cNvSpPr txBox="1"/>
          <p:nvPr/>
        </p:nvSpPr>
        <p:spPr>
          <a:xfrm>
            <a:off x="8431581" y="1759142"/>
            <a:ext cx="6094070" cy="1754326"/>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Examples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MySQL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Oracle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 Server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PostgreSQL</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MongoDB</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933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A2114-3FED-0E72-FA21-9FFCC5BB8622}"/>
              </a:ext>
            </a:extLst>
          </p:cNvPr>
          <p:cNvSpPr>
            <a:spLocks noGrp="1"/>
          </p:cNvSpPr>
          <p:nvPr>
            <p:ph type="title"/>
          </p:nvPr>
        </p:nvSpPr>
        <p:spPr>
          <a:xfrm>
            <a:off x="2724464" y="278419"/>
            <a:ext cx="7546693" cy="95157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Applications and Advantages of DBMS</a:t>
            </a:r>
            <a:br>
              <a:rPr lang="en-US"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8A632E0-17AC-389A-782F-21D456D0D30F}"/>
              </a:ext>
            </a:extLst>
          </p:cNvPr>
          <p:cNvSpPr txBox="1"/>
          <p:nvPr/>
        </p:nvSpPr>
        <p:spPr>
          <a:xfrm>
            <a:off x="2724464" y="1359733"/>
            <a:ext cx="3870545" cy="6294031"/>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Objectives</a:t>
            </a:r>
          </a:p>
          <a:p>
            <a:r>
              <a:rPr lang="en-US" dirty="0" smtClean="0">
                <a:latin typeface="Times New Roman" panose="02020603050405020304" pitchFamily="18" charset="0"/>
                <a:cs typeface="Times New Roman" panose="02020603050405020304" pitchFamily="18" charset="0"/>
              </a:rPr>
              <a:t>Organize data efficiently </a:t>
            </a:r>
          </a:p>
          <a:p>
            <a:r>
              <a:rPr lang="en-US" dirty="0" smtClean="0">
                <a:latin typeface="Times New Roman" panose="02020603050405020304" pitchFamily="18" charset="0"/>
                <a:cs typeface="Times New Roman" panose="02020603050405020304" pitchFamily="18" charset="0"/>
              </a:rPr>
              <a:t>Reduce redundancy </a:t>
            </a:r>
          </a:p>
          <a:p>
            <a:r>
              <a:rPr lang="en-US" dirty="0" smtClean="0">
                <a:latin typeface="Times New Roman" panose="02020603050405020304" pitchFamily="18" charset="0"/>
                <a:cs typeface="Times New Roman" panose="02020603050405020304" pitchFamily="18" charset="0"/>
              </a:rPr>
              <a:t>Maintain consistency </a:t>
            </a:r>
          </a:p>
          <a:p>
            <a:r>
              <a:rPr lang="en-US" dirty="0" smtClean="0">
                <a:latin typeface="Times New Roman" panose="02020603050405020304" pitchFamily="18" charset="0"/>
                <a:cs typeface="Times New Roman" panose="02020603050405020304" pitchFamily="18" charset="0"/>
              </a:rPr>
              <a:t>Improve security </a:t>
            </a:r>
          </a:p>
          <a:p>
            <a:r>
              <a:rPr lang="en-US" dirty="0" smtClean="0">
                <a:latin typeface="Times New Roman" panose="02020603050405020304" pitchFamily="18" charset="0"/>
                <a:cs typeface="Times New Roman" panose="02020603050405020304" pitchFamily="18" charset="0"/>
              </a:rPr>
              <a:t>Support multiple users</a:t>
            </a:r>
          </a:p>
          <a:p>
            <a:endParaRPr lang="en-US" b="1"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Advantages</a:t>
            </a:r>
          </a:p>
          <a:p>
            <a:r>
              <a:rPr lang="en-US" dirty="0" smtClean="0">
                <a:latin typeface="Times New Roman" panose="02020603050405020304" pitchFamily="18" charset="0"/>
                <a:cs typeface="Times New Roman" panose="02020603050405020304" pitchFamily="18" charset="0"/>
              </a:rPr>
              <a:t>Reduced data redundancy</a:t>
            </a:r>
          </a:p>
          <a:p>
            <a:r>
              <a:rPr lang="en-US" dirty="0" smtClean="0">
                <a:latin typeface="Times New Roman" panose="02020603050405020304" pitchFamily="18" charset="0"/>
                <a:cs typeface="Times New Roman" panose="02020603050405020304" pitchFamily="18" charset="0"/>
              </a:rPr>
              <a:t>Improved security</a:t>
            </a:r>
          </a:p>
          <a:p>
            <a:r>
              <a:rPr lang="en-US" dirty="0" smtClean="0">
                <a:latin typeface="Times New Roman" panose="02020603050405020304" pitchFamily="18" charset="0"/>
                <a:cs typeface="Times New Roman" panose="02020603050405020304" pitchFamily="18" charset="0"/>
              </a:rPr>
              <a:t>Faster data retrieval</a:t>
            </a:r>
          </a:p>
          <a:p>
            <a:r>
              <a:rPr lang="en-US" dirty="0" smtClean="0">
                <a:latin typeface="Times New Roman" panose="02020603050405020304" pitchFamily="18" charset="0"/>
                <a:cs typeface="Times New Roman" panose="02020603050405020304" pitchFamily="18" charset="0"/>
              </a:rPr>
              <a:t>Backup and recovery</a:t>
            </a:r>
          </a:p>
          <a:p>
            <a:endParaRPr lang="en-US"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Applications</a:t>
            </a:r>
          </a:p>
          <a:p>
            <a:r>
              <a:rPr lang="en-US" dirty="0" smtClean="0">
                <a:latin typeface="Times New Roman" panose="02020603050405020304" pitchFamily="18" charset="0"/>
                <a:cs typeface="Times New Roman" panose="02020603050405020304" pitchFamily="18" charset="0"/>
              </a:rPr>
              <a:t>Banking </a:t>
            </a:r>
          </a:p>
          <a:p>
            <a:r>
              <a:rPr lang="en-US" dirty="0" smtClean="0">
                <a:latin typeface="Times New Roman" panose="02020603050405020304" pitchFamily="18" charset="0"/>
                <a:cs typeface="Times New Roman" panose="02020603050405020304" pitchFamily="18" charset="0"/>
              </a:rPr>
              <a:t>Hospital </a:t>
            </a:r>
          </a:p>
          <a:p>
            <a:r>
              <a:rPr lang="en-US" dirty="0" smtClean="0">
                <a:latin typeface="Times New Roman" panose="02020603050405020304" pitchFamily="18" charset="0"/>
                <a:cs typeface="Times New Roman" panose="02020603050405020304" pitchFamily="18" charset="0"/>
              </a:rPr>
              <a:t>Library </a:t>
            </a:r>
          </a:p>
          <a:p>
            <a:r>
              <a:rPr lang="en-US" dirty="0" smtClean="0">
                <a:latin typeface="Times New Roman" panose="02020603050405020304" pitchFamily="18" charset="0"/>
                <a:cs typeface="Times New Roman" panose="02020603050405020304" pitchFamily="18" charset="0"/>
              </a:rPr>
              <a:t>E-commerce </a:t>
            </a:r>
          </a:p>
          <a:p>
            <a:r>
              <a:rPr lang="en-US" dirty="0" smtClean="0">
                <a:latin typeface="Times New Roman" panose="02020603050405020304" pitchFamily="18" charset="0"/>
                <a:cs typeface="Times New Roman" panose="02020603050405020304" pitchFamily="18" charset="0"/>
              </a:rPr>
              <a:t>Railway Reservation</a:t>
            </a:r>
          </a:p>
          <a:p>
            <a:r>
              <a:rPr lang="en-US" sz="2400" dirty="0" smtClean="0"/>
              <a:t/>
            </a:r>
            <a:br>
              <a:rPr lang="en-US" sz="2400" dirty="0" smtClean="0"/>
            </a:b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FB2170F-0586-5D2A-3AC8-4FA49359FEF4}"/>
              </a:ext>
            </a:extLst>
          </p:cNvPr>
          <p:cNvPicPr>
            <a:picLocks noChangeAspect="1"/>
          </p:cNvPicPr>
          <p:nvPr/>
        </p:nvPicPr>
        <p:blipFill>
          <a:blip r:embed="rId2"/>
          <a:stretch>
            <a:fillRect/>
          </a:stretch>
        </p:blipFill>
        <p:spPr>
          <a:xfrm>
            <a:off x="10271157" y="212270"/>
            <a:ext cx="917954" cy="1087660"/>
          </a:xfrm>
          <a:prstGeom prst="rect">
            <a:avLst/>
          </a:prstGeom>
        </p:spPr>
      </p:pic>
      <p:pic>
        <p:nvPicPr>
          <p:cNvPr id="5" name="Picture 4">
            <a:extLst>
              <a:ext uri="{FF2B5EF4-FFF2-40B4-BE49-F238E27FC236}">
                <a16:creationId xmlns:a16="http://schemas.microsoft.com/office/drawing/2014/main" id="{9333EB10-879B-B8E8-128F-90F089365089}"/>
              </a:ext>
            </a:extLst>
          </p:cNvPr>
          <p:cNvPicPr>
            <a:picLocks noChangeAspect="1"/>
          </p:cNvPicPr>
          <p:nvPr/>
        </p:nvPicPr>
        <p:blipFill>
          <a:blip r:embed="rId3"/>
          <a:stretch>
            <a:fillRect/>
          </a:stretch>
        </p:blipFill>
        <p:spPr>
          <a:xfrm>
            <a:off x="1622170" y="212270"/>
            <a:ext cx="1219354" cy="1081314"/>
          </a:xfrm>
          <a:prstGeom prst="rect">
            <a:avLst/>
          </a:prstGeom>
        </p:spPr>
      </p:pic>
      <p:sp>
        <p:nvSpPr>
          <p:cNvPr id="10" name="TextBox 9">
            <a:extLst>
              <a:ext uri="{FF2B5EF4-FFF2-40B4-BE49-F238E27FC236}">
                <a16:creationId xmlns:a16="http://schemas.microsoft.com/office/drawing/2014/main" id="{1A3AA8E5-41FE-3B99-7E5F-930AE1043605}"/>
              </a:ext>
            </a:extLst>
          </p:cNvPr>
          <p:cNvSpPr txBox="1"/>
          <p:nvPr/>
        </p:nvSpPr>
        <p:spPr>
          <a:xfrm>
            <a:off x="2679868" y="5016359"/>
            <a:ext cx="8182336" cy="276999"/>
          </a:xfrm>
          <a:prstGeom prst="rect">
            <a:avLst/>
          </a:prstGeom>
          <a:noFill/>
        </p:spPr>
        <p:txBody>
          <a:bodyPr wrap="square">
            <a:spAutoFit/>
          </a:bodyPr>
          <a:lstStyle/>
          <a:p>
            <a:r>
              <a:rPr lang="en-US" sz="1200" b="1" i="0" dirty="0" smtClean="0">
                <a:solidFill>
                  <a:srgbClr val="FFFFFF"/>
                </a:solidFill>
                <a:effectLst/>
                <a:latin typeface="-apple-system-body"/>
              </a:rPr>
              <a:t> </a:t>
            </a:r>
            <a:endParaRPr lang="en-US" sz="1200" b="0" i="0" dirty="0">
              <a:solidFill>
                <a:srgbClr val="FFFFFF"/>
              </a:solidFill>
              <a:effectLst/>
              <a:latin typeface="-apple-system-body"/>
            </a:endParaRPr>
          </a:p>
        </p:txBody>
      </p:sp>
    </p:spTree>
    <p:extLst>
      <p:ext uri="{BB962C8B-B14F-4D97-AF65-F5344CB8AC3E}">
        <p14:creationId xmlns:p14="http://schemas.microsoft.com/office/powerpoint/2010/main" val="395434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57EE1-70BB-5E44-2A9C-659394064061}"/>
              </a:ext>
            </a:extLst>
          </p:cNvPr>
          <p:cNvSpPr>
            <a:spLocks noGrp="1"/>
          </p:cNvSpPr>
          <p:nvPr>
            <p:ph type="title"/>
          </p:nvPr>
        </p:nvSpPr>
        <p:spPr>
          <a:xfrm>
            <a:off x="2841524" y="562167"/>
            <a:ext cx="7470337" cy="80364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File System vs DBMS</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t/>
            </a:r>
            <a:br>
              <a:rPr lang="en-US" b="1" dirty="0"/>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2F5A023-69C4-0097-4372-EFACAA7A3297}"/>
              </a:ext>
            </a:extLst>
          </p:cNvPr>
          <p:cNvPicPr>
            <a:picLocks noChangeAspect="1"/>
          </p:cNvPicPr>
          <p:nvPr/>
        </p:nvPicPr>
        <p:blipFill>
          <a:blip r:embed="rId2"/>
          <a:stretch>
            <a:fillRect/>
          </a:stretch>
        </p:blipFill>
        <p:spPr>
          <a:xfrm>
            <a:off x="10311861" y="380858"/>
            <a:ext cx="917954" cy="1087660"/>
          </a:xfrm>
          <a:prstGeom prst="rect">
            <a:avLst/>
          </a:prstGeom>
        </p:spPr>
      </p:pic>
      <p:pic>
        <p:nvPicPr>
          <p:cNvPr id="4" name="Picture 3">
            <a:extLst>
              <a:ext uri="{FF2B5EF4-FFF2-40B4-BE49-F238E27FC236}">
                <a16:creationId xmlns:a16="http://schemas.microsoft.com/office/drawing/2014/main" id="{6611D878-1AE5-B1FA-1140-2149597472DA}"/>
              </a:ext>
            </a:extLst>
          </p:cNvPr>
          <p:cNvPicPr>
            <a:picLocks noChangeAspect="1"/>
          </p:cNvPicPr>
          <p:nvPr/>
        </p:nvPicPr>
        <p:blipFill>
          <a:blip r:embed="rId3"/>
          <a:stretch>
            <a:fillRect/>
          </a:stretch>
        </p:blipFill>
        <p:spPr>
          <a:xfrm>
            <a:off x="1622170" y="380858"/>
            <a:ext cx="1219354" cy="1081314"/>
          </a:xfrm>
          <a:prstGeom prst="rect">
            <a:avLst/>
          </a:prstGeom>
        </p:spPr>
      </p:pic>
      <p:graphicFrame>
        <p:nvGraphicFramePr>
          <p:cNvPr id="7" name="Table 6">
            <a:extLst>
              <a:ext uri="{FF2B5EF4-FFF2-40B4-BE49-F238E27FC236}">
                <a16:creationId xmlns:a16="http://schemas.microsoft.com/office/drawing/2014/main" id="{F536157B-36B4-41FF-6CA5-F4F33131DE67}"/>
              </a:ext>
            </a:extLst>
          </p:cNvPr>
          <p:cNvGraphicFramePr>
            <a:graphicFrameLocks noGrp="1"/>
          </p:cNvGraphicFramePr>
          <p:nvPr>
            <p:extLst>
              <p:ext uri="{D42A27DB-BD31-4B8C-83A1-F6EECF244321}">
                <p14:modId xmlns:p14="http://schemas.microsoft.com/office/powerpoint/2010/main" val="387829208"/>
              </p:ext>
            </p:extLst>
          </p:nvPr>
        </p:nvGraphicFramePr>
        <p:xfrm>
          <a:off x="2231847" y="2249094"/>
          <a:ext cx="8915400" cy="3091648"/>
        </p:xfrm>
        <a:graphic>
          <a:graphicData uri="http://schemas.openxmlformats.org/drawingml/2006/table">
            <a:tbl>
              <a:tblPr/>
              <a:tblGrid>
                <a:gridCol w="4457700">
                  <a:extLst>
                    <a:ext uri="{9D8B030D-6E8A-4147-A177-3AD203B41FA5}">
                      <a16:colId xmlns:a16="http://schemas.microsoft.com/office/drawing/2014/main" val="2551475857"/>
                    </a:ext>
                  </a:extLst>
                </a:gridCol>
                <a:gridCol w="4457700">
                  <a:extLst>
                    <a:ext uri="{9D8B030D-6E8A-4147-A177-3AD203B41FA5}">
                      <a16:colId xmlns:a16="http://schemas.microsoft.com/office/drawing/2014/main" val="310909389"/>
                    </a:ext>
                  </a:extLst>
                </a:gridCol>
              </a:tblGrid>
              <a:tr h="386456">
                <a:tc>
                  <a:txBody>
                    <a:bodyPr/>
                    <a:lstStyle/>
                    <a:p>
                      <a:pPr>
                        <a:buNone/>
                      </a:pPr>
                      <a:r>
                        <a:rPr lang="en-US" b="1" dirty="0" smtClean="0"/>
                        <a:t>File System</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DBMS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4216570"/>
                  </a:ext>
                </a:extLst>
              </a:tr>
              <a:tr h="386456">
                <a:tc>
                  <a:txBody>
                    <a:bodyPr/>
                    <a:lstStyle/>
                    <a:p>
                      <a:pPr>
                        <a:buNone/>
                      </a:pPr>
                      <a:r>
                        <a:rPr lang="en-US" dirty="0"/>
                        <a:t>Data stored in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Data stored in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252211"/>
                  </a:ext>
                </a:extLst>
              </a:tr>
              <a:tr h="386456">
                <a:tc>
                  <a:txBody>
                    <a:bodyPr/>
                    <a:lstStyle/>
                    <a:p>
                      <a:pPr>
                        <a:buNone/>
                      </a:pPr>
                      <a:r>
                        <a:rPr lang="en-US" dirty="0"/>
                        <a:t>High redundancy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Low redundancy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505025"/>
                  </a:ext>
                </a:extLst>
              </a:tr>
              <a:tr h="386456">
                <a:tc>
                  <a:txBody>
                    <a:bodyPr/>
                    <a:lstStyle/>
                    <a:p>
                      <a:pPr>
                        <a:buNone/>
                      </a:pPr>
                      <a:r>
                        <a:rPr lang="en-US" dirty="0"/>
                        <a:t>Less secure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Highly secure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925562"/>
                  </a:ext>
                </a:extLst>
              </a:tr>
              <a:tr h="386456">
                <a:tc>
                  <a:txBody>
                    <a:bodyPr/>
                    <a:lstStyle/>
                    <a:p>
                      <a:pPr>
                        <a:buNone/>
                      </a:pPr>
                      <a:r>
                        <a:rPr lang="en-US" dirty="0"/>
                        <a:t>Difficult backup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Easy backup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7462263"/>
                  </a:ext>
                </a:extLst>
              </a:tr>
              <a:tr h="386456">
                <a:tc>
                  <a:txBody>
                    <a:bodyPr/>
                    <a:lstStyle/>
                    <a:p>
                      <a:pPr>
                        <a:buNone/>
                      </a:pPr>
                      <a:r>
                        <a:rPr lang="en-US" dirty="0"/>
                        <a:t>No relationships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Supports relationships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438098"/>
                  </a:ext>
                </a:extLst>
              </a:tr>
              <a:tr h="386456">
                <a:tc>
                  <a:txBody>
                    <a:bodyPr/>
                    <a:lstStyle/>
                    <a:p>
                      <a:pPr>
                        <a:buNone/>
                      </a:pPr>
                      <a:r>
                        <a:rPr lang="en-US" dirty="0"/>
                        <a:t>Slow searching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Fast querying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2568204"/>
                  </a:ext>
                </a:extLst>
              </a:tr>
              <a:tr h="386456">
                <a:tc>
                  <a:txBody>
                    <a:bodyPr/>
                    <a:lstStyle/>
                    <a:p>
                      <a:pPr>
                        <a:buNone/>
                      </a:pPr>
                      <a:r>
                        <a:rPr lang="en-US" dirty="0"/>
                        <a:t>Limited </a:t>
                      </a:r>
                      <a:r>
                        <a:rPr lang="en-US" dirty="0" smtClean="0"/>
                        <a:t>users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Multiple </a:t>
                      </a:r>
                      <a:r>
                        <a:rPr lang="en-US" dirty="0" smtClean="0"/>
                        <a:t>users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896082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15312909"/>
              </p:ext>
            </p:extLst>
          </p:nvPr>
        </p:nvGraphicFramePr>
        <p:xfrm>
          <a:off x="2231847" y="5340742"/>
          <a:ext cx="8915400" cy="1188720"/>
        </p:xfrm>
        <a:graphic>
          <a:graphicData uri="http://schemas.openxmlformats.org/drawingml/2006/table">
            <a:tbl>
              <a:tblPr/>
              <a:tblGrid>
                <a:gridCol w="4457700">
                  <a:extLst>
                    <a:ext uri="{9D8B030D-6E8A-4147-A177-3AD203B41FA5}">
                      <a16:colId xmlns:a16="http://schemas.microsoft.com/office/drawing/2014/main" val="3130290763"/>
                    </a:ext>
                  </a:extLst>
                </a:gridCol>
                <a:gridCol w="4457700">
                  <a:extLst>
                    <a:ext uri="{9D8B030D-6E8A-4147-A177-3AD203B41FA5}">
                      <a16:colId xmlns:a16="http://schemas.microsoft.com/office/drawing/2014/main" val="890517544"/>
                    </a:ext>
                  </a:extLst>
                </a:gridCol>
              </a:tblGrid>
              <a:tr h="386456">
                <a:tc>
                  <a:txBody>
                    <a:bodyPr/>
                    <a:lstStyle/>
                    <a:p>
                      <a:r>
                        <a:rPr lang="en-IN" b="1" dirty="0" smtClean="0"/>
                        <a:t>Example</a:t>
                      </a:r>
                    </a:p>
                    <a:p>
                      <a:r>
                        <a:rPr lang="en-IN" dirty="0" smtClean="0"/>
                        <a:t>Hospital departments maintain separate patient records, causing duplicate information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smtClean="0"/>
                        <a:t>Example</a:t>
                      </a:r>
                    </a:p>
                    <a:p>
                      <a:r>
                        <a:rPr lang="en-US" b="1" dirty="0" smtClean="0"/>
                        <a:t>Bank:</a:t>
                      </a:r>
                      <a:r>
                        <a:rPr lang="en-US" dirty="0" smtClean="0"/>
                        <a:t> DBMS stores customer information once and all services access the same database.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0532021"/>
                  </a:ext>
                </a:extLst>
              </a:tr>
            </a:tbl>
          </a:graphicData>
        </a:graphic>
      </p:graphicFrame>
    </p:spTree>
    <p:extLst>
      <p:ext uri="{BB962C8B-B14F-4D97-AF65-F5344CB8AC3E}">
        <p14:creationId xmlns:p14="http://schemas.microsoft.com/office/powerpoint/2010/main" val="326186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latin typeface="Times New Roman" panose="02020603050405020304" pitchFamily="18" charset="0"/>
                <a:cs typeface="Times New Roman" panose="02020603050405020304" pitchFamily="18" charset="0"/>
              </a:rPr>
              <a:t>       ANSI/SPARC ARCHITECTURE</a:t>
            </a:r>
            <a:r>
              <a:rPr lang="en-IN" dirty="0" smtClean="0">
                <a:latin typeface="Times New Roman" panose="02020603050405020304" pitchFamily="18" charset="0"/>
                <a:cs typeface="Times New Roman" panose="02020603050405020304" pitchFamily="18" charset="0"/>
              </a:rPr>
              <a:t/>
            </a:r>
            <a:br>
              <a:rPr lang="en-IN" dirty="0" smtClean="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a:r>
            <a:br>
              <a:rPr lang="en-IN" dirty="0" smtClean="0">
                <a:latin typeface="Times New Roman" panose="02020603050405020304" pitchFamily="18" charset="0"/>
                <a:cs typeface="Times New Roman" panose="02020603050405020304" pitchFamily="18" charset="0"/>
              </a:rPr>
            </a:br>
            <a:r>
              <a:rPr lang="en-US" sz="2700" b="1" dirty="0" smtClean="0">
                <a:latin typeface="Times New Roman" panose="02020603050405020304" pitchFamily="18" charset="0"/>
                <a:cs typeface="Times New Roman" panose="02020603050405020304" pitchFamily="18" charset="0"/>
              </a:rPr>
              <a:t>Three-Level </a:t>
            </a:r>
            <a:r>
              <a:rPr lang="en-US" sz="2700" b="1" dirty="0">
                <a:latin typeface="Times New Roman" panose="02020603050405020304" pitchFamily="18" charset="0"/>
                <a:cs typeface="Times New Roman" panose="02020603050405020304" pitchFamily="18" charset="0"/>
              </a:rPr>
              <a:t>Architecture</a:t>
            </a:r>
            <a:br>
              <a:rPr lang="en-US" sz="27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External Level (View Level)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Conceptual Level (Logical Level)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Internal Level (Physical Level) </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Purpose</a:t>
            </a:r>
            <a:r>
              <a:rPr lang="en-US" sz="2000" b="1" dirty="0">
                <a:latin typeface="Times New Roman" panose="02020603050405020304" pitchFamily="18" charset="0"/>
                <a:cs typeface="Times New Roman" panose="02020603050405020304" pitchFamily="18" charset="0"/>
              </a:rPr>
              <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data abstraction and data independence</a:t>
            </a:r>
            <a:r>
              <a:rPr lang="en-US" sz="2000" dirty="0" smtClean="0">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External Level</a:t>
            </a:r>
            <a:br>
              <a:rPr lang="en-US" sz="27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User-specific views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Different users see different data </a:t>
            </a:r>
            <a:br>
              <a:rPr lang="en-US" sz="2000"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Conceptual Level</a:t>
            </a:r>
            <a:br>
              <a:rPr lang="en-US" sz="27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Overall logical structure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Defines entities and relationships </a:t>
            </a:r>
            <a:br>
              <a:rPr lang="en-US" sz="2000"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Internal Level</a:t>
            </a:r>
            <a:br>
              <a:rPr lang="en-US" sz="27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Physical storage of data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File organization and </a:t>
            </a:r>
            <a:r>
              <a:rPr lang="en-US" sz="2000" dirty="0" smtClean="0">
                <a:latin typeface="Times New Roman" panose="02020603050405020304" pitchFamily="18" charset="0"/>
                <a:cs typeface="Times New Roman" panose="02020603050405020304" pitchFamily="18" charset="0"/>
              </a:rPr>
              <a:t>indexing</a:t>
            </a:r>
            <a:br>
              <a:rPr lang="en-US" sz="2000" dirty="0" smtClean="0">
                <a:latin typeface="Times New Roman" panose="02020603050405020304" pitchFamily="18" charset="0"/>
                <a:cs typeface="Times New Roman" panose="02020603050405020304" pitchFamily="18" charset="0"/>
              </a:rPr>
            </a:br>
            <a:r>
              <a:rPr lang="en-US" sz="2000" dirty="0"/>
              <a:t/>
            </a:r>
            <a:br>
              <a:rPr lang="en-US" sz="2000" dirty="0"/>
            </a:br>
            <a:r>
              <a:rPr lang="en-US" sz="2000" dirty="0" smtClean="0"/>
              <a:t> </a:t>
            </a:r>
            <a:r>
              <a:rPr lang="en-US" sz="2700" dirty="0" smtClean="0"/>
              <a:t/>
            </a:r>
            <a:br>
              <a:rPr lang="en-US" sz="2700" dirty="0" smtClean="0"/>
            </a:br>
            <a:r>
              <a:rPr lang="en-US" sz="2700" dirty="0"/>
              <a:t/>
            </a:r>
            <a:br>
              <a:rPr lang="en-US" sz="2700" dirty="0"/>
            </a:br>
            <a:r>
              <a:rPr lang="en-IN" dirty="0" smtClean="0"/>
              <a:t/>
            </a:r>
            <a:br>
              <a:rPr lang="en-IN" dirty="0" smtClean="0"/>
            </a:b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0655" y="1572052"/>
            <a:ext cx="4099965" cy="4499172"/>
          </a:xfrm>
          <a:prstGeom prst="rect">
            <a:avLst/>
          </a:prstGeom>
        </p:spPr>
      </p:pic>
    </p:spTree>
    <p:extLst>
      <p:ext uri="{BB962C8B-B14F-4D97-AF65-F5344CB8AC3E}">
        <p14:creationId xmlns:p14="http://schemas.microsoft.com/office/powerpoint/2010/main" val="300663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1D246-9FFE-C45A-17DA-0C0986EA4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49321-D50D-999D-DFE6-3157FEE30AA4}"/>
              </a:ext>
            </a:extLst>
          </p:cNvPr>
          <p:cNvSpPr>
            <a:spLocks noGrp="1"/>
          </p:cNvSpPr>
          <p:nvPr>
            <p:ph type="title"/>
          </p:nvPr>
        </p:nvSpPr>
        <p:spPr>
          <a:xfrm>
            <a:off x="4464379" y="307319"/>
            <a:ext cx="8911687" cy="1280890"/>
          </a:xfrm>
        </p:spPr>
        <p:txBody>
          <a:bodyPr>
            <a:normAutofit/>
          </a:bodyPr>
          <a:lstStyle/>
          <a:p>
            <a:r>
              <a:rPr lang="en-US" b="1" dirty="0">
                <a:latin typeface="Times New Roman" panose="02020603050405020304" pitchFamily="18" charset="0"/>
                <a:cs typeface="Times New Roman" panose="02020603050405020304" pitchFamily="18" charset="0"/>
              </a:rPr>
              <a:t>Database Models</a:t>
            </a:r>
          </a:p>
        </p:txBody>
      </p:sp>
      <p:pic>
        <p:nvPicPr>
          <p:cNvPr id="3" name="Picture 2">
            <a:extLst>
              <a:ext uri="{FF2B5EF4-FFF2-40B4-BE49-F238E27FC236}">
                <a16:creationId xmlns:a16="http://schemas.microsoft.com/office/drawing/2014/main" id="{607C778C-3E55-496B-BED0-0FB18A6191A4}"/>
              </a:ext>
            </a:extLst>
          </p:cNvPr>
          <p:cNvPicPr>
            <a:picLocks noChangeAspect="1"/>
          </p:cNvPicPr>
          <p:nvPr/>
        </p:nvPicPr>
        <p:blipFill>
          <a:blip r:embed="rId2"/>
          <a:stretch>
            <a:fillRect/>
          </a:stretch>
        </p:blipFill>
        <p:spPr>
          <a:xfrm>
            <a:off x="10271157" y="212270"/>
            <a:ext cx="917954" cy="1087660"/>
          </a:xfrm>
          <a:prstGeom prst="rect">
            <a:avLst/>
          </a:prstGeom>
        </p:spPr>
      </p:pic>
      <p:pic>
        <p:nvPicPr>
          <p:cNvPr id="4" name="Picture 3">
            <a:extLst>
              <a:ext uri="{FF2B5EF4-FFF2-40B4-BE49-F238E27FC236}">
                <a16:creationId xmlns:a16="http://schemas.microsoft.com/office/drawing/2014/main" id="{ED641A2B-5812-FE20-29BE-4823584D5F21}"/>
              </a:ext>
            </a:extLst>
          </p:cNvPr>
          <p:cNvPicPr>
            <a:picLocks noChangeAspect="1"/>
          </p:cNvPicPr>
          <p:nvPr/>
        </p:nvPicPr>
        <p:blipFill>
          <a:blip r:embed="rId3"/>
          <a:stretch>
            <a:fillRect/>
          </a:stretch>
        </p:blipFill>
        <p:spPr>
          <a:xfrm>
            <a:off x="1622170" y="212270"/>
            <a:ext cx="1219354" cy="1081314"/>
          </a:xfrm>
          <a:prstGeom prst="rect">
            <a:avLst/>
          </a:prstGeom>
        </p:spPr>
      </p:pic>
      <p:sp>
        <p:nvSpPr>
          <p:cNvPr id="9" name="TextBox 8">
            <a:extLst>
              <a:ext uri="{FF2B5EF4-FFF2-40B4-BE49-F238E27FC236}">
                <a16:creationId xmlns:a16="http://schemas.microsoft.com/office/drawing/2014/main" id="{4427852D-7E7D-555D-C9D6-E660A37901D1}"/>
              </a:ext>
            </a:extLst>
          </p:cNvPr>
          <p:cNvSpPr txBox="1"/>
          <p:nvPr/>
        </p:nvSpPr>
        <p:spPr>
          <a:xfrm>
            <a:off x="2759988" y="1024276"/>
            <a:ext cx="8663589" cy="5247590"/>
          </a:xfrm>
          <a:prstGeom prst="rect">
            <a:avLst/>
          </a:prstGeom>
          <a:noFill/>
        </p:spPr>
        <p:txBody>
          <a:bodyPr wrap="square">
            <a:spAutoFit/>
          </a:bodyPr>
          <a:lstStyle/>
          <a:p>
            <a:r>
              <a:rPr lang="en-US" sz="2900" b="1" dirty="0">
                <a:latin typeface="Times New Roman" panose="02020603050405020304" pitchFamily="18" charset="0"/>
                <a:cs typeface="Times New Roman" panose="02020603050405020304" pitchFamily="18" charset="0"/>
              </a:rPr>
              <a:t>Types of Data </a:t>
            </a:r>
            <a:r>
              <a:rPr lang="en-US" sz="2900" b="1" dirty="0" smtClean="0">
                <a:latin typeface="Times New Roman" panose="02020603050405020304" pitchFamily="18" charset="0"/>
                <a:cs typeface="Times New Roman" panose="02020603050405020304" pitchFamily="18" charset="0"/>
              </a:rPr>
              <a:t>Models</a:t>
            </a:r>
          </a:p>
          <a:p>
            <a:endParaRPr lang="en-US"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Hierarchical Model</a:t>
            </a:r>
          </a:p>
          <a:p>
            <a:r>
              <a:rPr lang="en-US" dirty="0">
                <a:latin typeface="Times New Roman" panose="02020603050405020304" pitchFamily="18" charset="0"/>
                <a:cs typeface="Times New Roman" panose="02020603050405020304" pitchFamily="18" charset="0"/>
              </a:rPr>
              <a:t>Tree structure</a:t>
            </a:r>
          </a:p>
          <a:p>
            <a:r>
              <a:rPr lang="en-US" dirty="0">
                <a:latin typeface="Times New Roman" panose="02020603050405020304" pitchFamily="18" charset="0"/>
                <a:cs typeface="Times New Roman" panose="02020603050405020304" pitchFamily="18" charset="0"/>
              </a:rPr>
              <a:t>One parent → Many children</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Company Organization Chart</a:t>
            </a:r>
          </a:p>
          <a:p>
            <a:r>
              <a:rPr lang="en-US" sz="2400" b="1" dirty="0">
                <a:latin typeface="Times New Roman" panose="02020603050405020304" pitchFamily="18" charset="0"/>
                <a:cs typeface="Times New Roman" panose="02020603050405020304" pitchFamily="18" charset="0"/>
              </a:rPr>
              <a:t>Network Model</a:t>
            </a:r>
          </a:p>
          <a:p>
            <a:r>
              <a:rPr lang="en-US" dirty="0">
                <a:latin typeface="Times New Roman" panose="02020603050405020304" pitchFamily="18" charset="0"/>
                <a:cs typeface="Times New Roman" panose="02020603050405020304" pitchFamily="18" charset="0"/>
              </a:rPr>
              <a:t>Many-to-many relationships</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Student enrolled in multiple courses</a:t>
            </a:r>
          </a:p>
          <a:p>
            <a:r>
              <a:rPr lang="en-US" sz="2400" b="1" dirty="0" smtClean="0">
                <a:latin typeface="Times New Roman" panose="02020603050405020304" pitchFamily="18" charset="0"/>
                <a:cs typeface="Times New Roman" panose="02020603050405020304" pitchFamily="18" charset="0"/>
              </a:rPr>
              <a:t>Relational </a:t>
            </a:r>
            <a:r>
              <a:rPr lang="en-US" sz="2400" b="1" dirty="0">
                <a:latin typeface="Times New Roman" panose="02020603050405020304" pitchFamily="18" charset="0"/>
                <a:cs typeface="Times New Roman" panose="02020603050405020304" pitchFamily="18" charset="0"/>
              </a:rPr>
              <a:t>Model</a:t>
            </a:r>
          </a:p>
          <a:p>
            <a:r>
              <a:rPr lang="en-US" dirty="0">
                <a:latin typeface="Times New Roman" panose="02020603050405020304" pitchFamily="18" charset="0"/>
                <a:cs typeface="Times New Roman" panose="02020603050405020304" pitchFamily="18" charset="0"/>
              </a:rPr>
              <a:t>Data stored in tables </a:t>
            </a:r>
          </a:p>
          <a:p>
            <a:r>
              <a:rPr lang="en-US" dirty="0">
                <a:latin typeface="Times New Roman" panose="02020603050405020304" pitchFamily="18" charset="0"/>
                <a:cs typeface="Times New Roman" panose="02020603050405020304" pitchFamily="18" charset="0"/>
              </a:rPr>
              <a:t>Most widely used model </a:t>
            </a:r>
          </a:p>
          <a:p>
            <a:r>
              <a:rPr lang="en-US" b="1" dirty="0" smtClean="0">
                <a:latin typeface="Times New Roman" panose="02020603050405020304" pitchFamily="18" charset="0"/>
                <a:cs typeface="Times New Roman" panose="02020603050405020304" pitchFamily="18" charset="0"/>
              </a:rPr>
              <a:t>Example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Student </a:t>
            </a:r>
            <a:r>
              <a:rPr lang="en-US" dirty="0" smtClean="0">
                <a:latin typeface="Times New Roman" panose="02020603050405020304" pitchFamily="18" charset="0"/>
                <a:cs typeface="Times New Roman" panose="02020603050405020304" pitchFamily="18" charset="0"/>
              </a:rPr>
              <a:t>Table</a:t>
            </a:r>
            <a:endParaRPr lang="en-US" dirty="0">
              <a:latin typeface="Times New Roman" panose="02020603050405020304" pitchFamily="18" charset="0"/>
              <a:cs typeface="Times New Roman" panose="02020603050405020304" pitchFamily="18" charset="0"/>
            </a:endParaRPr>
          </a:p>
          <a:p>
            <a:pPr>
              <a:buClr>
                <a:schemeClr val="accent1"/>
              </a:buClr>
            </a:pPr>
            <a:endParaRPr lang="en-US" dirty="0"/>
          </a:p>
        </p:txBody>
      </p:sp>
      <p:pic>
        <p:nvPicPr>
          <p:cNvPr id="8" name="Picture 7"/>
          <p:cNvPicPr>
            <a:picLocks noChangeAspect="1"/>
          </p:cNvPicPr>
          <p:nvPr/>
        </p:nvPicPr>
        <p:blipFill>
          <a:blip r:embed="rId4"/>
          <a:stretch>
            <a:fillRect/>
          </a:stretch>
        </p:blipFill>
        <p:spPr>
          <a:xfrm>
            <a:off x="6885010" y="1190142"/>
            <a:ext cx="5306990" cy="4526917"/>
          </a:xfrm>
          <a:prstGeom prst="rect">
            <a:avLst/>
          </a:prstGeom>
        </p:spPr>
      </p:pic>
    </p:spTree>
    <p:extLst>
      <p:ext uri="{BB962C8B-B14F-4D97-AF65-F5344CB8AC3E}">
        <p14:creationId xmlns:p14="http://schemas.microsoft.com/office/powerpoint/2010/main" val="1465015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7996" y="834504"/>
            <a:ext cx="8911687" cy="1280890"/>
          </a:xfrm>
        </p:spPr>
        <p:txBody>
          <a:bodyPr>
            <a:normAutofit fontScale="90000"/>
          </a:bodyPr>
          <a:lstStyle/>
          <a:p>
            <a:pPr lvl="0"/>
            <a:r>
              <a:rPr lang="en-US" dirty="0" smtClean="0"/>
              <a:t/>
            </a:r>
            <a:br>
              <a:rPr lang="en-US" dirty="0" smtClean="0"/>
            </a:br>
            <a:r>
              <a:rPr lang="en-US" dirty="0"/>
              <a:t/>
            </a:r>
            <a:br>
              <a:rPr lang="en-US" dirty="0"/>
            </a:br>
            <a:r>
              <a:rPr lang="en-US" dirty="0" smtClean="0"/>
              <a:t>  </a:t>
            </a:r>
            <a:r>
              <a:rPr lang="en-US" altLang="en-US" sz="2700" b="1" dirty="0" smtClean="0">
                <a:solidFill>
                  <a:schemeClr val="tx1"/>
                </a:solidFill>
                <a:latin typeface="Arial" panose="020B0604020202020204" pitchFamily="34" charset="0"/>
              </a:rPr>
              <a:t>INDUSTRY </a:t>
            </a:r>
            <a:r>
              <a:rPr lang="en-US" altLang="en-US" sz="2700" b="1" dirty="0">
                <a:solidFill>
                  <a:schemeClr val="tx1"/>
                </a:solidFill>
                <a:latin typeface="Arial" panose="020B0604020202020204" pitchFamily="34" charset="0"/>
              </a:rPr>
              <a:t>USE </a:t>
            </a:r>
            <a:r>
              <a:rPr lang="en-US" altLang="en-US" sz="2700" b="1" dirty="0" smtClean="0">
                <a:solidFill>
                  <a:schemeClr val="tx1"/>
                </a:solidFill>
                <a:latin typeface="Arial" panose="020B0604020202020204" pitchFamily="34" charset="0"/>
              </a:rPr>
              <a:t>CASES</a:t>
            </a:r>
            <a:r>
              <a:rPr lang="en-US" dirty="0"/>
              <a:t/>
            </a:r>
            <a:br>
              <a:rPr lang="en-US" dirty="0"/>
            </a:br>
            <a:r>
              <a:rPr lang="en-US" dirty="0" smtClean="0"/>
              <a:t/>
            </a:r>
            <a:br>
              <a:rPr lang="en-US" dirty="0" smtClean="0"/>
            </a:br>
            <a:r>
              <a:rPr lang="en-US" dirty="0"/>
              <a:t/>
            </a:r>
            <a:br>
              <a:rPr lang="en-US" dirty="0"/>
            </a:b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2607092957"/>
              </p:ext>
            </p:extLst>
          </p:nvPr>
        </p:nvGraphicFramePr>
        <p:xfrm>
          <a:off x="2030863" y="2678463"/>
          <a:ext cx="8915400" cy="2011680"/>
        </p:xfrm>
        <a:graphic>
          <a:graphicData uri="http://schemas.openxmlformats.org/drawingml/2006/table">
            <a:tbl>
              <a:tblPr/>
              <a:tblGrid>
                <a:gridCol w="4457700">
                  <a:extLst>
                    <a:ext uri="{9D8B030D-6E8A-4147-A177-3AD203B41FA5}">
                      <a16:colId xmlns:a16="http://schemas.microsoft.com/office/drawing/2014/main" val="3247139561"/>
                    </a:ext>
                  </a:extLst>
                </a:gridCol>
                <a:gridCol w="4457700">
                  <a:extLst>
                    <a:ext uri="{9D8B030D-6E8A-4147-A177-3AD203B41FA5}">
                      <a16:colId xmlns:a16="http://schemas.microsoft.com/office/drawing/2014/main" val="1584696691"/>
                    </a:ext>
                  </a:extLst>
                </a:gridCol>
              </a:tblGrid>
              <a:tr h="690992">
                <a:tc>
                  <a:txBody>
                    <a:bodyPr/>
                    <a:lstStyle/>
                    <a:p>
                      <a:endParaRPr lang="en-IN" dirty="0" smtClean="0"/>
                    </a:p>
                    <a:p>
                      <a:endParaRPr lang="en-IN" dirty="0" smtClean="0"/>
                    </a:p>
                    <a:p>
                      <a:r>
                        <a:rPr lang="en-IN" b="1" dirty="0" smtClean="0"/>
                        <a:t>Model</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smtClean="0"/>
                    </a:p>
                    <a:p>
                      <a:endParaRPr lang="en-IN" dirty="0" smtClean="0"/>
                    </a:p>
                    <a:p>
                      <a:r>
                        <a:rPr lang="en-IN" b="1" dirty="0" smtClean="0"/>
                        <a:t>Industry</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9650120"/>
                  </a:ext>
                </a:extLst>
              </a:tr>
              <a:tr h="0">
                <a:tc>
                  <a:txBody>
                    <a:bodyPr/>
                    <a:lstStyle/>
                    <a:p>
                      <a:r>
                        <a:rPr lang="en-IN" dirty="0"/>
                        <a:t>Hierarchical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File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1338734"/>
                  </a:ext>
                </a:extLst>
              </a:tr>
              <a:tr h="0">
                <a:tc>
                  <a:txBody>
                    <a:bodyPr/>
                    <a:lstStyle/>
                    <a:p>
                      <a:r>
                        <a:rPr lang="en-IN" dirty="0"/>
                        <a:t>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Telecommunication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970184"/>
                  </a:ext>
                </a:extLst>
              </a:tr>
              <a:tr h="0">
                <a:tc>
                  <a:txBody>
                    <a:bodyPr/>
                    <a:lstStyle/>
                    <a:p>
                      <a:r>
                        <a:rPr lang="en-IN"/>
                        <a:t>Relational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Banking, Hospitals, Colleges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1301231"/>
                  </a:ext>
                </a:extLst>
              </a:tr>
            </a:tbl>
          </a:graphicData>
        </a:graphic>
      </p:graphicFrame>
    </p:spTree>
    <p:extLst>
      <p:ext uri="{BB962C8B-B14F-4D97-AF65-F5344CB8AC3E}">
        <p14:creationId xmlns:p14="http://schemas.microsoft.com/office/powerpoint/2010/main" val="1113119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9636" y="90035"/>
            <a:ext cx="8911687" cy="1280890"/>
          </a:xfrm>
        </p:spPr>
        <p:txBody>
          <a:bodyPr>
            <a:normAutofit fontScale="90000"/>
          </a:bodyPr>
          <a:lstStyle/>
          <a:p>
            <a:r>
              <a:rPr lang="en-US" dirty="0" smtClean="0"/>
              <a:t>         </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ER diagram</a:t>
            </a:r>
            <a:br>
              <a:rPr lang="en-US" b="1" dirty="0" smtClean="0">
                <a:latin typeface="Times New Roman" panose="02020603050405020304" pitchFamily="18" charset="0"/>
                <a:cs typeface="Times New Roman" panose="02020603050405020304" pitchFamily="18" charset="0"/>
              </a:rPr>
            </a:br>
            <a:r>
              <a:rPr lang="en-US" sz="2200" b="1" dirty="0" smtClean="0">
                <a:latin typeface="Times New Roman" panose="02020603050405020304" pitchFamily="18" charset="0"/>
                <a:cs typeface="Times New Roman" panose="02020603050405020304" pitchFamily="18" charset="0"/>
              </a:rPr>
              <a:t>Online </a:t>
            </a:r>
            <a:r>
              <a:rPr lang="en-US" sz="2200" b="1" dirty="0">
                <a:latin typeface="Times New Roman" panose="02020603050405020304" pitchFamily="18" charset="0"/>
                <a:cs typeface="Times New Roman" panose="02020603050405020304" pitchFamily="18" charset="0"/>
              </a:rPr>
              <a:t>Library System</a:t>
            </a:r>
            <a:br>
              <a:rPr lang="en-US" sz="22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Entities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Book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Member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Librarian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Issue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Author </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Relationships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Member borrows Book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Librarian issues Book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Author writes </a:t>
            </a:r>
            <a:r>
              <a:rPr lang="en-US" sz="2200" dirty="0" smtClean="0">
                <a:latin typeface="Times New Roman" panose="02020603050405020304" pitchFamily="18" charset="0"/>
                <a:cs typeface="Times New Roman" panose="02020603050405020304" pitchFamily="18" charset="0"/>
              </a:rPr>
              <a:t>Book</a:t>
            </a:r>
            <a:br>
              <a:rPr lang="en-US" sz="2200" dirty="0" smtClean="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ER </a:t>
            </a:r>
            <a:r>
              <a:rPr lang="en-US" sz="2200" b="1" dirty="0" smtClean="0">
                <a:latin typeface="Times New Roman" panose="02020603050405020304" pitchFamily="18" charset="0"/>
                <a:cs typeface="Times New Roman" panose="02020603050405020304" pitchFamily="18" charset="0"/>
              </a:rPr>
              <a:t>COMPONENTS</a:t>
            </a:r>
            <a:r>
              <a:rPr lang="en-US" sz="2200" b="1" dirty="0">
                <a:latin typeface="Times New Roman" panose="02020603050405020304" pitchFamily="18" charset="0"/>
                <a:cs typeface="Times New Roman" panose="02020603050405020304" pitchFamily="18" charset="0"/>
              </a:rPr>
              <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Entity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Attribute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Relationship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Primary Key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Foreign Key </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Benefits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Simplifies database design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Represents real-world objects </a:t>
            </a:r>
            <a:r>
              <a:rPr lang="en-US" sz="2400" dirty="0"/>
              <a:t/>
            </a:r>
            <a:br>
              <a:rPr lang="en-US" sz="2400" dirty="0"/>
            </a:b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8575" y="1197621"/>
            <a:ext cx="5156987" cy="4442528"/>
          </a:xfrm>
          <a:prstGeom prst="rect">
            <a:avLst/>
          </a:prstGeom>
        </p:spPr>
      </p:pic>
    </p:spTree>
    <p:extLst>
      <p:ext uri="{BB962C8B-B14F-4D97-AF65-F5344CB8AC3E}">
        <p14:creationId xmlns:p14="http://schemas.microsoft.com/office/powerpoint/2010/main" val="1188015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4821" y="0"/>
            <a:ext cx="8911687" cy="1280890"/>
          </a:xfrm>
        </p:spPr>
        <p:txBody>
          <a:bodyPr/>
          <a:lstStyle/>
          <a:p>
            <a:r>
              <a:rPr lang="en-US" b="1" dirty="0" smtClean="0"/>
              <a:t>    </a:t>
            </a:r>
            <a:r>
              <a:rPr lang="en-US" b="1" dirty="0" smtClean="0">
                <a:latin typeface="Times New Roman" panose="02020603050405020304" pitchFamily="18" charset="0"/>
                <a:cs typeface="Times New Roman" panose="02020603050405020304" pitchFamily="18" charset="0"/>
              </a:rPr>
              <a:t>EER </a:t>
            </a:r>
            <a:r>
              <a:rPr lang="en-US" b="1" dirty="0">
                <a:latin typeface="Times New Roman" panose="02020603050405020304" pitchFamily="18" charset="0"/>
                <a:cs typeface="Times New Roman" panose="02020603050405020304" pitchFamily="18" charset="0"/>
              </a:rPr>
              <a:t>MODEL</a:t>
            </a:r>
            <a:r>
              <a:rPr lang="en-US" b="1" dirty="0"/>
              <a:t/>
            </a:r>
            <a:br>
              <a:rPr lang="en-US" b="1" dirty="0"/>
            </a:br>
            <a:endParaRPr lang="en-IN" dirty="0"/>
          </a:p>
        </p:txBody>
      </p:sp>
      <p:sp>
        <p:nvSpPr>
          <p:cNvPr id="3" name="Rectangle 2"/>
          <p:cNvSpPr/>
          <p:nvPr/>
        </p:nvSpPr>
        <p:spPr>
          <a:xfrm>
            <a:off x="2505834" y="859954"/>
            <a:ext cx="6096000" cy="5801588"/>
          </a:xfrm>
          <a:prstGeom prst="rect">
            <a:avLst/>
          </a:prstGeom>
        </p:spPr>
        <p:txBody>
          <a:bodyPr>
            <a:spAutoFit/>
          </a:bodyPr>
          <a:lstStyle/>
          <a:p>
            <a:r>
              <a:rPr lang="en-US" sz="2400" b="1" dirty="0" smtClean="0">
                <a:latin typeface="Times New Roman" panose="02020603050405020304" pitchFamily="18" charset="0"/>
                <a:cs typeface="Times New Roman" panose="02020603050405020304" pitchFamily="18" charset="0"/>
              </a:rPr>
              <a:t>Enhanced </a:t>
            </a:r>
            <a:r>
              <a:rPr lang="en-US" sz="2400" b="1" dirty="0">
                <a:latin typeface="Times New Roman" panose="02020603050405020304" pitchFamily="18" charset="0"/>
                <a:cs typeface="Times New Roman" panose="02020603050405020304" pitchFamily="18" charset="0"/>
              </a:rPr>
              <a:t>Entity Relationship Model</a:t>
            </a:r>
          </a:p>
          <a:p>
            <a:r>
              <a:rPr lang="en-US" b="1" dirty="0">
                <a:latin typeface="Times New Roman" panose="02020603050405020304" pitchFamily="18" charset="0"/>
                <a:cs typeface="Times New Roman" panose="02020603050405020304" pitchFamily="18" charset="0"/>
              </a:rPr>
              <a:t>Features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Generalization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Specialization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Inheritance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Categories </a:t>
            </a:r>
          </a:p>
          <a:p>
            <a:r>
              <a:rPr lang="en-US" b="1"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University Database</a:t>
            </a:r>
          </a:p>
          <a:p>
            <a:r>
              <a:rPr lang="en-US" dirty="0">
                <a:latin typeface="Times New Roman" panose="02020603050405020304" pitchFamily="18" charset="0"/>
                <a:cs typeface="Times New Roman" panose="02020603050405020304" pitchFamily="18" charset="0"/>
              </a:rPr>
              <a:t>Person → Student, </a:t>
            </a:r>
            <a:r>
              <a:rPr lang="en-US" dirty="0" smtClean="0">
                <a:latin typeface="Times New Roman" panose="02020603050405020304" pitchFamily="18" charset="0"/>
                <a:cs typeface="Times New Roman" panose="02020603050405020304" pitchFamily="18" charset="0"/>
              </a:rPr>
              <a:t>Faculty</a:t>
            </a:r>
          </a:p>
          <a:p>
            <a:r>
              <a:rPr lang="en-US" b="1" dirty="0">
                <a:latin typeface="Times New Roman" panose="02020603050405020304" pitchFamily="18" charset="0"/>
                <a:cs typeface="Times New Roman" panose="02020603050405020304" pitchFamily="18" charset="0"/>
              </a:rPr>
              <a:t>UNIVERSITY CASE STUDY</a:t>
            </a:r>
          </a:p>
          <a:p>
            <a:r>
              <a:rPr lang="en-US" b="1" dirty="0">
                <a:latin typeface="Times New Roman" panose="02020603050405020304" pitchFamily="18" charset="0"/>
                <a:cs typeface="Times New Roman" panose="02020603050405020304" pitchFamily="18" charset="0"/>
              </a:rPr>
              <a:t>Superclass</a:t>
            </a:r>
          </a:p>
          <a:p>
            <a:r>
              <a:rPr lang="en-US" dirty="0">
                <a:latin typeface="Times New Roman" panose="02020603050405020304" pitchFamily="18" charset="0"/>
                <a:cs typeface="Times New Roman" panose="02020603050405020304" pitchFamily="18" charset="0"/>
              </a:rPr>
              <a:t>Person</a:t>
            </a:r>
          </a:p>
          <a:p>
            <a:r>
              <a:rPr lang="en-US" b="1" dirty="0">
                <a:latin typeface="Times New Roman" panose="02020603050405020304" pitchFamily="18" charset="0"/>
                <a:cs typeface="Times New Roman" panose="02020603050405020304" pitchFamily="18" charset="0"/>
              </a:rPr>
              <a:t>Subclasses</a:t>
            </a:r>
          </a:p>
          <a:p>
            <a:r>
              <a:rPr lang="en-US" dirty="0">
                <a:latin typeface="Times New Roman" panose="02020603050405020304" pitchFamily="18" charset="0"/>
                <a:cs typeface="Times New Roman" panose="02020603050405020304" pitchFamily="18" charset="0"/>
              </a:rPr>
              <a:t>Student </a:t>
            </a:r>
          </a:p>
          <a:p>
            <a:r>
              <a:rPr lang="en-US" dirty="0">
                <a:latin typeface="Times New Roman" panose="02020603050405020304" pitchFamily="18" charset="0"/>
                <a:cs typeface="Times New Roman" panose="02020603050405020304" pitchFamily="18" charset="0"/>
              </a:rPr>
              <a:t>Professor </a:t>
            </a:r>
          </a:p>
          <a:p>
            <a:r>
              <a:rPr lang="en-US" dirty="0">
                <a:latin typeface="Times New Roman" panose="02020603050405020304" pitchFamily="18" charset="0"/>
                <a:cs typeface="Times New Roman" panose="02020603050405020304" pitchFamily="18" charset="0"/>
              </a:rPr>
              <a:t>Staff </a:t>
            </a: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Avoids redundancy </a:t>
            </a:r>
          </a:p>
          <a:p>
            <a:r>
              <a:rPr lang="en-US" dirty="0">
                <a:latin typeface="Times New Roman" panose="02020603050405020304" pitchFamily="18" charset="0"/>
                <a:cs typeface="Times New Roman" panose="02020603050405020304" pitchFamily="18" charset="0"/>
              </a:rPr>
              <a:t>Better organization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6797" y="1383737"/>
            <a:ext cx="6055203" cy="4774301"/>
          </a:xfrm>
          <a:prstGeom prst="rect">
            <a:avLst/>
          </a:prstGeom>
        </p:spPr>
      </p:pic>
    </p:spTree>
    <p:extLst>
      <p:ext uri="{BB962C8B-B14F-4D97-AF65-F5344CB8AC3E}">
        <p14:creationId xmlns:p14="http://schemas.microsoft.com/office/powerpoint/2010/main" val="422476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INDEPENDENCE</a:t>
            </a:r>
            <a:br>
              <a:rPr lang="en-US" b="1" dirty="0"/>
            </a:br>
            <a:endParaRPr lang="en-IN" dirty="0"/>
          </a:p>
        </p:txBody>
      </p:sp>
      <p:sp>
        <p:nvSpPr>
          <p:cNvPr id="3" name="Rectangle 2"/>
          <p:cNvSpPr/>
          <p:nvPr/>
        </p:nvSpPr>
        <p:spPr>
          <a:xfrm>
            <a:off x="2797146" y="1424240"/>
            <a:ext cx="6096000" cy="4524315"/>
          </a:xfrm>
          <a:prstGeom prst="rect">
            <a:avLst/>
          </a:prstGeom>
        </p:spPr>
        <p:txBody>
          <a:bodyPr>
            <a:spAutoFit/>
          </a:bodyPr>
          <a:lstStyle/>
          <a:p>
            <a:r>
              <a:rPr lang="en-US" b="1" dirty="0" smtClean="0"/>
              <a:t>Types</a:t>
            </a:r>
            <a:endParaRPr lang="en-US" b="1" dirty="0"/>
          </a:p>
          <a:p>
            <a:r>
              <a:rPr lang="en-US" b="1" dirty="0"/>
              <a:t>Physical Data Independence</a:t>
            </a:r>
          </a:p>
          <a:p>
            <a:r>
              <a:rPr lang="en-US" dirty="0"/>
              <a:t>Storage changes do not affect logical structure.</a:t>
            </a:r>
          </a:p>
          <a:p>
            <a:r>
              <a:rPr lang="en-US" b="1" dirty="0"/>
              <a:t>Logical Data Independence</a:t>
            </a:r>
          </a:p>
          <a:p>
            <a:r>
              <a:rPr lang="en-US" dirty="0"/>
              <a:t>Logical changes do not affect user views.</a:t>
            </a:r>
          </a:p>
          <a:p>
            <a:r>
              <a:rPr lang="en-US" b="1" dirty="0"/>
              <a:t>Importance</a:t>
            </a:r>
          </a:p>
          <a:p>
            <a:pPr>
              <a:buFont typeface="Arial" panose="020B0604020202020204" pitchFamily="34" charset="0"/>
              <a:buChar char="•"/>
            </a:pPr>
            <a:r>
              <a:rPr lang="en-US" dirty="0"/>
              <a:t>Easy maintenance </a:t>
            </a:r>
          </a:p>
          <a:p>
            <a:pPr>
              <a:buFont typeface="Arial" panose="020B0604020202020204" pitchFamily="34" charset="0"/>
              <a:buChar char="•"/>
            </a:pPr>
            <a:r>
              <a:rPr lang="en-US" dirty="0"/>
              <a:t>Better </a:t>
            </a:r>
            <a:r>
              <a:rPr lang="en-US" dirty="0" smtClean="0"/>
              <a:t>scalability</a:t>
            </a:r>
          </a:p>
          <a:p>
            <a:endParaRPr lang="en-US" b="1" dirty="0" smtClean="0"/>
          </a:p>
          <a:p>
            <a:r>
              <a:rPr lang="en-US" b="1" dirty="0" smtClean="0"/>
              <a:t>Significance </a:t>
            </a:r>
            <a:r>
              <a:rPr lang="en-US" b="1" dirty="0"/>
              <a:t>of Data Independence</a:t>
            </a:r>
          </a:p>
          <a:p>
            <a:r>
              <a:rPr lang="en-US" dirty="0"/>
              <a:t>Simplifies database maintenance. </a:t>
            </a:r>
          </a:p>
          <a:p>
            <a:r>
              <a:rPr lang="en-US" dirty="0"/>
              <a:t>Reduces application changes. </a:t>
            </a:r>
          </a:p>
          <a:p>
            <a:r>
              <a:rPr lang="en-US" dirty="0"/>
              <a:t>Improves flexibility and scalability. </a:t>
            </a:r>
          </a:p>
          <a:p>
            <a:r>
              <a:rPr lang="en-US" dirty="0"/>
              <a:t>Enhances system performance. </a:t>
            </a:r>
          </a:p>
          <a:p>
            <a:r>
              <a:rPr lang="en-US" dirty="0"/>
              <a:t>Ensures data consistency and reliability.</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53053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SOFTWARE COMPONENTS OF DBMS</a:t>
            </a:r>
            <a:br>
              <a:rPr lang="en-IN" b="1" dirty="0"/>
            </a:br>
            <a:endParaRPr lang="en-IN" dirty="0"/>
          </a:p>
        </p:txBody>
      </p:sp>
      <p:sp>
        <p:nvSpPr>
          <p:cNvPr id="3" name="Rectangle 2"/>
          <p:cNvSpPr/>
          <p:nvPr/>
        </p:nvSpPr>
        <p:spPr>
          <a:xfrm>
            <a:off x="3048000" y="1997839"/>
            <a:ext cx="6096000" cy="3570208"/>
          </a:xfrm>
          <a:prstGeom prst="rect">
            <a:avLst/>
          </a:prstGeom>
        </p:spPr>
        <p:txBody>
          <a:bodyPr>
            <a:spAutoFit/>
          </a:bodyPr>
          <a:lstStyle/>
          <a:p>
            <a:r>
              <a:rPr lang="en-IN" sz="2800" b="1" dirty="0" smtClean="0"/>
              <a:t>Main Components</a:t>
            </a:r>
          </a:p>
          <a:p>
            <a:endParaRPr lang="en-IN" b="1" dirty="0"/>
          </a:p>
          <a:p>
            <a:r>
              <a:rPr lang="en-IN" b="1" dirty="0"/>
              <a:t>Query Processor</a:t>
            </a:r>
          </a:p>
          <a:p>
            <a:r>
              <a:rPr lang="en-IN" dirty="0"/>
              <a:t>Interprets and executes SQL queries. </a:t>
            </a:r>
          </a:p>
          <a:p>
            <a:r>
              <a:rPr lang="en-IN" dirty="0"/>
              <a:t>Optimizes query execution. </a:t>
            </a:r>
          </a:p>
          <a:p>
            <a:r>
              <a:rPr lang="en-IN" b="1" dirty="0"/>
              <a:t>2. Storage Manager</a:t>
            </a:r>
          </a:p>
          <a:p>
            <a:r>
              <a:rPr lang="en-IN" dirty="0"/>
              <a:t>Stores, retrieves, and updates data. </a:t>
            </a:r>
          </a:p>
          <a:p>
            <a:r>
              <a:rPr lang="en-IN" dirty="0"/>
              <a:t>Manages files and indexes. </a:t>
            </a:r>
          </a:p>
          <a:p>
            <a:r>
              <a:rPr lang="en-IN" b="1" dirty="0"/>
              <a:t>3. Transaction Manager</a:t>
            </a:r>
          </a:p>
          <a:p>
            <a:r>
              <a:rPr lang="en-IN" dirty="0"/>
              <a:t>Ensures ACID properties. </a:t>
            </a:r>
          </a:p>
          <a:p>
            <a:r>
              <a:rPr lang="en-IN" dirty="0"/>
              <a:t>Maintains data consistency during transactions. </a:t>
            </a:r>
          </a:p>
          <a:p>
            <a:endParaRPr lang="en-IN" dirty="0"/>
          </a:p>
        </p:txBody>
      </p:sp>
    </p:spTree>
    <p:extLst>
      <p:ext uri="{BB962C8B-B14F-4D97-AF65-F5344CB8AC3E}">
        <p14:creationId xmlns:p14="http://schemas.microsoft.com/office/powerpoint/2010/main" val="807884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STRONG &amp; WEAK ENTITIES</a:t>
            </a:r>
            <a:br>
              <a:rPr lang="en-US" b="1" dirty="0"/>
            </a:br>
            <a:endParaRPr lang="en-IN" dirty="0"/>
          </a:p>
        </p:txBody>
      </p:sp>
      <p:sp>
        <p:nvSpPr>
          <p:cNvPr id="3" name="Rectangle 2"/>
          <p:cNvSpPr/>
          <p:nvPr/>
        </p:nvSpPr>
        <p:spPr>
          <a:xfrm>
            <a:off x="3048000" y="1859340"/>
            <a:ext cx="6096000" cy="3046988"/>
          </a:xfrm>
          <a:prstGeom prst="rect">
            <a:avLst/>
          </a:prstGeom>
        </p:spPr>
        <p:txBody>
          <a:bodyPr>
            <a:spAutoFit/>
          </a:bodyPr>
          <a:lstStyle/>
          <a:p>
            <a:r>
              <a:rPr lang="en-US" sz="2400" b="1" dirty="0" smtClean="0">
                <a:latin typeface="Times New Roman" panose="02020603050405020304" pitchFamily="18" charset="0"/>
                <a:cs typeface="Times New Roman" panose="02020603050405020304" pitchFamily="18" charset="0"/>
              </a:rPr>
              <a:t>Strong </a:t>
            </a:r>
            <a:r>
              <a:rPr lang="en-US" sz="2400" b="1" dirty="0">
                <a:latin typeface="Times New Roman" panose="02020603050405020304" pitchFamily="18" charset="0"/>
                <a:cs typeface="Times New Roman" panose="02020603050405020304" pitchFamily="18" charset="0"/>
              </a:rPr>
              <a:t>Entity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Has Primary Key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Exists independently </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Customer</a:t>
            </a:r>
          </a:p>
          <a:p>
            <a:r>
              <a:rPr lang="en-US" sz="2400" b="1" dirty="0">
                <a:latin typeface="Times New Roman" panose="02020603050405020304" pitchFamily="18" charset="0"/>
                <a:cs typeface="Times New Roman" panose="02020603050405020304" pitchFamily="18" charset="0"/>
              </a:rPr>
              <a:t>Weak Entity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Primary Key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Depends on Strong Entity </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Order Item</a:t>
            </a:r>
          </a:p>
        </p:txBody>
      </p:sp>
    </p:spTree>
    <p:extLst>
      <p:ext uri="{BB962C8B-B14F-4D97-AF65-F5344CB8AC3E}">
        <p14:creationId xmlns:p14="http://schemas.microsoft.com/office/powerpoint/2010/main" val="1770392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RETAIL CHAIN EER MODEL</a:t>
            </a:r>
            <a:br>
              <a:rPr lang="en-IN" b="1" dirty="0"/>
            </a:br>
            <a:endParaRPr lang="en-IN" dirty="0"/>
          </a:p>
        </p:txBody>
      </p:sp>
      <p:sp>
        <p:nvSpPr>
          <p:cNvPr id="4" name="Rectangle 3"/>
          <p:cNvSpPr/>
          <p:nvPr/>
        </p:nvSpPr>
        <p:spPr>
          <a:xfrm>
            <a:off x="3048000" y="1582341"/>
            <a:ext cx="6096000" cy="3416320"/>
          </a:xfrm>
          <a:prstGeom prst="rect">
            <a:avLst/>
          </a:prstGeom>
        </p:spPr>
        <p:txBody>
          <a:bodyPr>
            <a:spAutoFit/>
          </a:bodyPr>
          <a:lstStyle/>
          <a:p>
            <a:r>
              <a:rPr lang="en-IN" b="1" dirty="0" smtClean="0"/>
              <a:t>Entities</a:t>
            </a:r>
            <a:endParaRPr lang="en-IN" b="1" dirty="0"/>
          </a:p>
          <a:p>
            <a:pPr>
              <a:buFont typeface="Arial" panose="020B0604020202020204" pitchFamily="34" charset="0"/>
              <a:buChar char="•"/>
            </a:pPr>
            <a:r>
              <a:rPr lang="en-IN" dirty="0"/>
              <a:t>Customer </a:t>
            </a:r>
          </a:p>
          <a:p>
            <a:pPr>
              <a:buFont typeface="Arial" panose="020B0604020202020204" pitchFamily="34" charset="0"/>
              <a:buChar char="•"/>
            </a:pPr>
            <a:r>
              <a:rPr lang="en-IN" dirty="0"/>
              <a:t>Product </a:t>
            </a:r>
          </a:p>
          <a:p>
            <a:pPr>
              <a:buFont typeface="Arial" panose="020B0604020202020204" pitchFamily="34" charset="0"/>
              <a:buChar char="•"/>
            </a:pPr>
            <a:r>
              <a:rPr lang="en-IN" dirty="0"/>
              <a:t>Supplier </a:t>
            </a:r>
          </a:p>
          <a:p>
            <a:pPr>
              <a:buFont typeface="Arial" panose="020B0604020202020204" pitchFamily="34" charset="0"/>
              <a:buChar char="•"/>
            </a:pPr>
            <a:r>
              <a:rPr lang="en-IN" dirty="0"/>
              <a:t>Store </a:t>
            </a:r>
          </a:p>
          <a:p>
            <a:pPr>
              <a:buFont typeface="Arial" panose="020B0604020202020204" pitchFamily="34" charset="0"/>
              <a:buChar char="•"/>
            </a:pPr>
            <a:r>
              <a:rPr lang="en-IN" dirty="0"/>
              <a:t>Employee </a:t>
            </a:r>
          </a:p>
          <a:p>
            <a:pPr>
              <a:buFont typeface="Arial" panose="020B0604020202020204" pitchFamily="34" charset="0"/>
              <a:buChar char="•"/>
            </a:pPr>
            <a:r>
              <a:rPr lang="en-IN" dirty="0"/>
              <a:t>Order </a:t>
            </a:r>
          </a:p>
          <a:p>
            <a:r>
              <a:rPr lang="en-IN" b="1" dirty="0"/>
              <a:t>Relationships</a:t>
            </a:r>
          </a:p>
          <a:p>
            <a:r>
              <a:rPr lang="en-IN" dirty="0"/>
              <a:t>Customer → Places → Order</a:t>
            </a:r>
          </a:p>
          <a:p>
            <a:r>
              <a:rPr lang="en-IN" dirty="0"/>
              <a:t>Store → Sells → Product</a:t>
            </a:r>
          </a:p>
          <a:p>
            <a:r>
              <a:rPr lang="en-IN" dirty="0"/>
              <a:t>Supplier → Supplies → Product</a:t>
            </a:r>
          </a:p>
          <a:p>
            <a:r>
              <a:rPr lang="en-IN" dirty="0"/>
              <a:t>Employee → Works in → Store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344" y="1308693"/>
            <a:ext cx="5391656" cy="3689968"/>
          </a:xfrm>
          <a:prstGeom prst="rect">
            <a:avLst/>
          </a:prstGeom>
        </p:spPr>
      </p:pic>
    </p:spTree>
    <p:extLst>
      <p:ext uri="{BB962C8B-B14F-4D97-AF65-F5344CB8AC3E}">
        <p14:creationId xmlns:p14="http://schemas.microsoft.com/office/powerpoint/2010/main" val="405106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109515-48E7-CB43-BF8E-333936BC5C6C}"/>
              </a:ext>
            </a:extLst>
          </p:cNvPr>
          <p:cNvPicPr>
            <a:picLocks noChangeAspect="1"/>
          </p:cNvPicPr>
          <p:nvPr/>
        </p:nvPicPr>
        <p:blipFill>
          <a:blip r:embed="rId2"/>
          <a:stretch>
            <a:fillRect/>
          </a:stretch>
        </p:blipFill>
        <p:spPr>
          <a:xfrm>
            <a:off x="1622170" y="212270"/>
            <a:ext cx="1219354" cy="1081314"/>
          </a:xfrm>
          <a:prstGeom prst="rect">
            <a:avLst/>
          </a:prstGeom>
        </p:spPr>
      </p:pic>
      <p:pic>
        <p:nvPicPr>
          <p:cNvPr id="4" name="Picture 3">
            <a:extLst>
              <a:ext uri="{FF2B5EF4-FFF2-40B4-BE49-F238E27FC236}">
                <a16:creationId xmlns:a16="http://schemas.microsoft.com/office/drawing/2014/main" id="{6196DEC5-C53C-C369-A19D-AE0B27864A41}"/>
              </a:ext>
            </a:extLst>
          </p:cNvPr>
          <p:cNvPicPr>
            <a:picLocks noChangeAspect="1"/>
          </p:cNvPicPr>
          <p:nvPr/>
        </p:nvPicPr>
        <p:blipFill>
          <a:blip r:embed="rId3"/>
          <a:stretch>
            <a:fillRect/>
          </a:stretch>
        </p:blipFill>
        <p:spPr>
          <a:xfrm>
            <a:off x="10271157" y="212270"/>
            <a:ext cx="917954" cy="1087660"/>
          </a:xfrm>
          <a:prstGeom prst="rect">
            <a:avLst/>
          </a:prstGeom>
        </p:spPr>
      </p:pic>
      <p:sp>
        <p:nvSpPr>
          <p:cNvPr id="5" name="Oval 4">
            <a:extLst>
              <a:ext uri="{FF2B5EF4-FFF2-40B4-BE49-F238E27FC236}">
                <a16:creationId xmlns:a16="http://schemas.microsoft.com/office/drawing/2014/main" id="{318E0DF2-0081-61F8-4E42-E8703380CC4F}"/>
              </a:ext>
            </a:extLst>
          </p:cNvPr>
          <p:cNvSpPr/>
          <p:nvPr/>
        </p:nvSpPr>
        <p:spPr>
          <a:xfrm>
            <a:off x="10835640" y="6199632"/>
            <a:ext cx="896112" cy="46166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ED3C34A-1BF9-FE1B-FAAD-66EB9527158C}"/>
              </a:ext>
            </a:extLst>
          </p:cNvPr>
          <p:cNvSpPr txBox="1"/>
          <p:nvPr/>
        </p:nvSpPr>
        <p:spPr>
          <a:xfrm>
            <a:off x="11080677" y="6245798"/>
            <a:ext cx="6858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09</a:t>
            </a:r>
          </a:p>
        </p:txBody>
      </p:sp>
      <p:sp>
        <p:nvSpPr>
          <p:cNvPr id="8" name="TextBox 7">
            <a:extLst>
              <a:ext uri="{FF2B5EF4-FFF2-40B4-BE49-F238E27FC236}">
                <a16:creationId xmlns:a16="http://schemas.microsoft.com/office/drawing/2014/main" id="{70A750D4-9233-D853-2948-A8EAA34D1A96}"/>
              </a:ext>
            </a:extLst>
          </p:cNvPr>
          <p:cNvSpPr txBox="1"/>
          <p:nvPr/>
        </p:nvSpPr>
        <p:spPr>
          <a:xfrm>
            <a:off x="5095041" y="492452"/>
            <a:ext cx="6094070" cy="938719"/>
          </a:xfrm>
          <a:prstGeom prst="rect">
            <a:avLst/>
          </a:prstGeom>
          <a:noFill/>
        </p:spPr>
        <p:txBody>
          <a:bodyPr wrap="square">
            <a:spAutoFit/>
          </a:bodyPr>
          <a:lstStyle/>
          <a:p>
            <a:pPr>
              <a:spcAft>
                <a:spcPts val="600"/>
              </a:spcAft>
            </a:pPr>
            <a:r>
              <a:rPr lang="en-US" sz="3200" b="1" dirty="0"/>
              <a:t>Conclusion</a:t>
            </a:r>
          </a:p>
          <a:p>
            <a:pPr marL="0" marR="0" indent="0" algn="l">
              <a:spcAft>
                <a:spcPts val="600"/>
              </a:spcAft>
              <a:buNone/>
            </a:pPr>
            <a:r>
              <a:rPr lang="en-US" sz="1800" b="1" i="0" dirty="0">
                <a:solidFill>
                  <a:srgbClr val="FFFFFF"/>
                </a:solidFill>
                <a:effectLst/>
                <a:latin typeface="-apple-system-body"/>
              </a:rPr>
              <a:t>Conclusion</a:t>
            </a:r>
          </a:p>
        </p:txBody>
      </p:sp>
      <p:sp>
        <p:nvSpPr>
          <p:cNvPr id="10" name="TextBox 9">
            <a:extLst>
              <a:ext uri="{FF2B5EF4-FFF2-40B4-BE49-F238E27FC236}">
                <a16:creationId xmlns:a16="http://schemas.microsoft.com/office/drawing/2014/main" id="{3CF2C39A-95F7-14E6-BF30-1DF58CF56C8B}"/>
              </a:ext>
            </a:extLst>
          </p:cNvPr>
          <p:cNvSpPr txBox="1"/>
          <p:nvPr/>
        </p:nvSpPr>
        <p:spPr>
          <a:xfrm>
            <a:off x="2048006" y="1546527"/>
            <a:ext cx="4572713" cy="4431983"/>
          </a:xfrm>
          <a:prstGeom prst="rect">
            <a:avLst/>
          </a:prstGeom>
          <a:noFill/>
        </p:spPr>
        <p:txBody>
          <a:bodyPr wrap="square">
            <a:spAutoFit/>
          </a:bodyPr>
          <a:lstStyle/>
          <a:p>
            <a:r>
              <a:rPr lang="en-US" dirty="0"/>
              <a:t>In this presentation, we learned about:</a:t>
            </a:r>
          </a:p>
          <a:p>
            <a:r>
              <a:rPr lang="en-US" dirty="0"/>
              <a:t>DBMS fundamentals</a:t>
            </a:r>
          </a:p>
          <a:p>
            <a:pPr marL="285750" indent="-285750">
              <a:buFont typeface="Arial" panose="020B0604020202020204" pitchFamily="34" charset="0"/>
              <a:buChar char="•"/>
            </a:pPr>
            <a:r>
              <a:rPr lang="en-US" dirty="0"/>
              <a:t>Applications</a:t>
            </a:r>
          </a:p>
          <a:p>
            <a:pPr marL="285750" indent="-285750">
              <a:buFont typeface="Arial" panose="020B0604020202020204" pitchFamily="34" charset="0"/>
              <a:buChar char="•"/>
            </a:pPr>
            <a:r>
              <a:rPr lang="en-US" dirty="0"/>
              <a:t>Advantages</a:t>
            </a:r>
          </a:p>
          <a:p>
            <a:pPr marL="285750" indent="-285750">
              <a:buFont typeface="Arial" panose="020B0604020202020204" pitchFamily="34" charset="0"/>
              <a:buChar char="•"/>
            </a:pPr>
            <a:r>
              <a:rPr lang="en-US" dirty="0"/>
              <a:t>File System vs DBMS</a:t>
            </a:r>
          </a:p>
          <a:p>
            <a:pPr marL="285750" indent="-285750">
              <a:buFont typeface="Arial" panose="020B0604020202020204" pitchFamily="34" charset="0"/>
              <a:buChar char="•"/>
            </a:pPr>
            <a:r>
              <a:rPr lang="en-US" dirty="0"/>
              <a:t>Database Models</a:t>
            </a:r>
          </a:p>
          <a:p>
            <a:pPr marL="285750" indent="-285750">
              <a:buFont typeface="Arial" panose="020B0604020202020204" pitchFamily="34" charset="0"/>
              <a:buChar char="•"/>
            </a:pPr>
            <a:r>
              <a:rPr lang="en-US" dirty="0"/>
              <a:t>Normalization</a:t>
            </a:r>
          </a:p>
          <a:p>
            <a:pPr marL="285750" indent="-285750">
              <a:buFont typeface="Arial" panose="020B0604020202020204" pitchFamily="34" charset="0"/>
              <a:buChar char="•"/>
            </a:pPr>
            <a:r>
              <a:rPr lang="en-US" dirty="0"/>
              <a:t>ER Diagram</a:t>
            </a:r>
          </a:p>
          <a:p>
            <a:pPr marL="285750" indent="-285750">
              <a:buFont typeface="Arial" panose="020B0604020202020204" pitchFamily="34" charset="0"/>
              <a:buChar char="•"/>
            </a:pPr>
            <a:r>
              <a:rPr lang="en-US" dirty="0"/>
              <a:t>Inventory Management System</a:t>
            </a:r>
          </a:p>
          <a:p>
            <a:pPr marL="285750" indent="-285750">
              <a:buFont typeface="Arial" panose="020B0604020202020204" pitchFamily="34" charset="0"/>
              <a:buChar char="•"/>
            </a:pPr>
            <a:r>
              <a:rPr lang="en-US" dirty="0"/>
              <a:t>Database Users</a:t>
            </a:r>
          </a:p>
          <a:p>
            <a:pPr marL="285750" indent="-285750">
              <a:buFont typeface="Arial" panose="020B0604020202020204" pitchFamily="34" charset="0"/>
              <a:buChar char="•"/>
            </a:pPr>
            <a:r>
              <a:rPr lang="en-US" dirty="0"/>
              <a:t>SQL Commands</a:t>
            </a:r>
          </a:p>
          <a:p>
            <a:pPr marL="285750" indent="-285750">
              <a:buFont typeface="Arial" panose="020B0604020202020204" pitchFamily="34" charset="0"/>
              <a:buChar char="•"/>
            </a:pPr>
            <a:r>
              <a:rPr lang="en-US" dirty="0"/>
              <a:t>Aggregate Functions</a:t>
            </a:r>
          </a:p>
          <a:p>
            <a:pPr marL="285750" indent="-285750">
              <a:buFont typeface="Arial" panose="020B0604020202020204" pitchFamily="34" charset="0"/>
              <a:buChar char="•"/>
            </a:pPr>
            <a:r>
              <a:rPr lang="en-US" dirty="0"/>
              <a:t>Joins</a:t>
            </a:r>
          </a:p>
          <a:p>
            <a:r>
              <a:rPr lang="en-US" sz="1200" dirty="0"/>
              <a:t/>
            </a:r>
            <a:br>
              <a:rPr lang="en-US" sz="1200" dirty="0"/>
            </a:br>
            <a:r>
              <a:rPr lang="en-US" dirty="0"/>
              <a:t/>
            </a:r>
            <a:br>
              <a:rPr lang="en-US" dirty="0"/>
            </a:br>
            <a:endParaRPr lang="en-US" dirty="0"/>
          </a:p>
        </p:txBody>
      </p:sp>
      <p:sp>
        <p:nvSpPr>
          <p:cNvPr id="12" name="TextBox 11">
            <a:extLst>
              <a:ext uri="{FF2B5EF4-FFF2-40B4-BE49-F238E27FC236}">
                <a16:creationId xmlns:a16="http://schemas.microsoft.com/office/drawing/2014/main" id="{1A4E7E4A-D989-E6D0-8B47-D5903CDC3C33}"/>
              </a:ext>
            </a:extLst>
          </p:cNvPr>
          <p:cNvSpPr txBox="1"/>
          <p:nvPr/>
        </p:nvSpPr>
        <p:spPr>
          <a:xfrm>
            <a:off x="7086601" y="1580112"/>
            <a:ext cx="4524543" cy="2308324"/>
          </a:xfrm>
          <a:prstGeom prst="rect">
            <a:avLst/>
          </a:prstGeom>
          <a:noFill/>
        </p:spPr>
        <p:txBody>
          <a:bodyPr wrap="square">
            <a:spAutoFit/>
          </a:bodyPr>
          <a:lstStyle/>
          <a:p>
            <a:r>
              <a:rPr lang="en-US" sz="1800" dirty="0" smtClean="0"/>
              <a:t>A </a:t>
            </a:r>
            <a:r>
              <a:rPr lang="en-US" sz="1800" dirty="0"/>
              <a:t>Database Management System is the backbone of modern applications. It provides efficient data storage, security, integrity, and fast access, making it an essential technology in industries such as banking, healthcare, education, e-commerce, and government services.</a:t>
            </a:r>
          </a:p>
        </p:txBody>
      </p:sp>
    </p:spTree>
    <p:extLst>
      <p:ext uri="{BB962C8B-B14F-4D97-AF65-F5344CB8AC3E}">
        <p14:creationId xmlns:p14="http://schemas.microsoft.com/office/powerpoint/2010/main" val="150445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088F-5CB4-7FD1-71A2-03E5F9BFE2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73E1BC-000C-5087-FD44-74574E7D646C}"/>
              </a:ext>
            </a:extLst>
          </p:cNvPr>
          <p:cNvPicPr>
            <a:picLocks noChangeAspect="1"/>
          </p:cNvPicPr>
          <p:nvPr/>
        </p:nvPicPr>
        <p:blipFill>
          <a:blip r:embed="rId2"/>
          <a:stretch>
            <a:fillRect/>
          </a:stretch>
        </p:blipFill>
        <p:spPr>
          <a:xfrm>
            <a:off x="1622170" y="212270"/>
            <a:ext cx="1219354" cy="1081314"/>
          </a:xfrm>
          <a:prstGeom prst="rect">
            <a:avLst/>
          </a:prstGeom>
        </p:spPr>
      </p:pic>
      <p:pic>
        <p:nvPicPr>
          <p:cNvPr id="4" name="Picture 3">
            <a:extLst>
              <a:ext uri="{FF2B5EF4-FFF2-40B4-BE49-F238E27FC236}">
                <a16:creationId xmlns:a16="http://schemas.microsoft.com/office/drawing/2014/main" id="{23BAA13C-A2DC-8A33-8691-D98CF2030638}"/>
              </a:ext>
            </a:extLst>
          </p:cNvPr>
          <p:cNvPicPr>
            <a:picLocks noChangeAspect="1"/>
          </p:cNvPicPr>
          <p:nvPr/>
        </p:nvPicPr>
        <p:blipFill>
          <a:blip r:embed="rId3"/>
          <a:stretch>
            <a:fillRect/>
          </a:stretch>
        </p:blipFill>
        <p:spPr>
          <a:xfrm>
            <a:off x="10271157" y="212270"/>
            <a:ext cx="917954" cy="1087660"/>
          </a:xfrm>
          <a:prstGeom prst="rect">
            <a:avLst/>
          </a:prstGeom>
        </p:spPr>
      </p:pic>
      <p:sp>
        <p:nvSpPr>
          <p:cNvPr id="5" name="Oval 4">
            <a:extLst>
              <a:ext uri="{FF2B5EF4-FFF2-40B4-BE49-F238E27FC236}">
                <a16:creationId xmlns:a16="http://schemas.microsoft.com/office/drawing/2014/main" id="{6B0BF023-1050-CF25-9F99-FC48BC38FFB8}"/>
              </a:ext>
            </a:extLst>
          </p:cNvPr>
          <p:cNvSpPr/>
          <p:nvPr/>
        </p:nvSpPr>
        <p:spPr>
          <a:xfrm>
            <a:off x="10835640" y="6199632"/>
            <a:ext cx="896112" cy="46166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058E819-E8EB-9656-565F-D69353B5AF6B}"/>
              </a:ext>
            </a:extLst>
          </p:cNvPr>
          <p:cNvSpPr txBox="1"/>
          <p:nvPr/>
        </p:nvSpPr>
        <p:spPr>
          <a:xfrm>
            <a:off x="11080677" y="6245798"/>
            <a:ext cx="6858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09</a:t>
            </a:r>
          </a:p>
        </p:txBody>
      </p:sp>
      <p:sp>
        <p:nvSpPr>
          <p:cNvPr id="8" name="TextBox 7">
            <a:extLst>
              <a:ext uri="{FF2B5EF4-FFF2-40B4-BE49-F238E27FC236}">
                <a16:creationId xmlns:a16="http://schemas.microsoft.com/office/drawing/2014/main" id="{D3FBEFA9-CC0D-0371-0A6A-30F38326145A}"/>
              </a:ext>
            </a:extLst>
          </p:cNvPr>
          <p:cNvSpPr txBox="1"/>
          <p:nvPr/>
        </p:nvSpPr>
        <p:spPr>
          <a:xfrm>
            <a:off x="5095041" y="492452"/>
            <a:ext cx="6094070" cy="369332"/>
          </a:xfrm>
          <a:prstGeom prst="rect">
            <a:avLst/>
          </a:prstGeom>
          <a:noFill/>
        </p:spPr>
        <p:txBody>
          <a:bodyPr wrap="square">
            <a:spAutoFit/>
          </a:bodyPr>
          <a:lstStyle/>
          <a:p>
            <a:pPr>
              <a:spcAft>
                <a:spcPts val="600"/>
              </a:spcAft>
            </a:pPr>
            <a:r>
              <a:rPr lang="en-US" sz="1800" b="1" i="0" dirty="0">
                <a:solidFill>
                  <a:srgbClr val="FFFFFF"/>
                </a:solidFill>
                <a:effectLst/>
                <a:latin typeface="-apple-system-body"/>
              </a:rPr>
              <a:t>Conclusion</a:t>
            </a:r>
          </a:p>
        </p:txBody>
      </p:sp>
      <p:sp>
        <p:nvSpPr>
          <p:cNvPr id="12" name="TextBox 11">
            <a:extLst>
              <a:ext uri="{FF2B5EF4-FFF2-40B4-BE49-F238E27FC236}">
                <a16:creationId xmlns:a16="http://schemas.microsoft.com/office/drawing/2014/main" id="{1FA2B424-E7C9-256E-5B8D-6C818BF34979}"/>
              </a:ext>
            </a:extLst>
          </p:cNvPr>
          <p:cNvSpPr txBox="1"/>
          <p:nvPr/>
        </p:nvSpPr>
        <p:spPr>
          <a:xfrm>
            <a:off x="4141364" y="2503285"/>
            <a:ext cx="8590152" cy="830997"/>
          </a:xfrm>
          <a:prstGeom prst="rect">
            <a:avLst/>
          </a:prstGeom>
          <a:noFill/>
        </p:spPr>
        <p:txBody>
          <a:bodyPr wrap="square">
            <a:spAutoFit/>
          </a:bodyPr>
          <a:lstStyle/>
          <a:p>
            <a:r>
              <a:rPr lang="en-US" sz="4800" b="1" dirty="0"/>
              <a:t>THANK YOU </a:t>
            </a:r>
          </a:p>
        </p:txBody>
      </p:sp>
    </p:spTree>
    <p:extLst>
      <p:ext uri="{BB962C8B-B14F-4D97-AF65-F5344CB8AC3E}">
        <p14:creationId xmlns:p14="http://schemas.microsoft.com/office/powerpoint/2010/main" val="353435013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1875</TotalTime>
  <Words>438</Words>
  <Application>Microsoft Office PowerPoint</Application>
  <PresentationFormat>Widescreen</PresentationFormat>
  <Paragraphs>186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-apple-system-body</vt:lpstr>
      <vt:lpstr>Arial</vt:lpstr>
      <vt:lpstr>Century Gothic</vt:lpstr>
      <vt:lpstr>Times New Roman</vt:lpstr>
      <vt:lpstr>Wingdings</vt:lpstr>
      <vt:lpstr>Wingdings 3</vt:lpstr>
      <vt:lpstr>Wisp</vt:lpstr>
      <vt:lpstr>PowerPoint Presentation</vt:lpstr>
      <vt:lpstr>INTRODUCTION </vt:lpstr>
      <vt:lpstr>Applications and Advantages of DBMS </vt:lpstr>
      <vt:lpstr>File System vs DBMS    </vt:lpstr>
      <vt:lpstr>       ANSI/SPARC ARCHITECTURE  Three-Level Architecture External Level (View Level)  Conceptual Level (Logical Level)  Internal Level (Physical Level)  Purpose Provides data abstraction and data independence. External Level User-specific views  Different users see different data  Conceptual Level Overall logical structure  Defines entities and relationships  Internal Level Physical storage of data  File organization and indexing      </vt:lpstr>
      <vt:lpstr>Database Models</vt:lpstr>
      <vt:lpstr>    INDUSTRY USE CASES   </vt:lpstr>
      <vt:lpstr>                         ER diagram Online Library System Entities Book  Member  Librarian  Issue  Author  Relationships Member borrows Book  Librarian issues Book  Author writes Book ER COMPONENTS Entity  Attribute  Relationship  Primary Key  Foreign Key  Benefits Simplifies database design  Represents real-world objects   </vt:lpstr>
      <vt:lpstr>    EER MODEL </vt:lpstr>
      <vt:lpstr>DATA INDEPENDENCE </vt:lpstr>
      <vt:lpstr>SOFTWARE COMPONENTS OF DBMS </vt:lpstr>
      <vt:lpstr>STRONG &amp; WEAK ENTITIES </vt:lpstr>
      <vt:lpstr>RETAIL CHAIN EER MODEL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bheeshma l</dc:creator>
  <cp:lastModifiedBy>Logesh Mohan</cp:lastModifiedBy>
  <cp:revision>106</cp:revision>
  <dcterms:created xsi:type="dcterms:W3CDTF">2025-11-18T09:16:46Z</dcterms:created>
  <dcterms:modified xsi:type="dcterms:W3CDTF">2026-07-28T16:57:57Z</dcterms:modified>
</cp:coreProperties>
</file>